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Cabin" charset="1" panose="00000500000000000000"/>
      <p:regular r:id="rId35"/>
    </p:embeddedFont>
    <p:embeddedFont>
      <p:font typeface="Cabin Bold" charset="1" panose="00000800000000000000"/>
      <p:regular r:id="rId36"/>
    </p:embeddedFont>
    <p:embeddedFont>
      <p:font typeface="Cabin Semi-Bold" charset="1" panose="00000700000000000000"/>
      <p:regular r:id="rId37"/>
    </p:embeddedFont>
    <p:embeddedFont>
      <p:font typeface="Cabin Medium" charset="1" panose="000006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3815731" y="4664143"/>
            <a:ext cx="18506775" cy="5622857"/>
            <a:chOff x="0" y="0"/>
            <a:chExt cx="1026257" cy="311804"/>
          </a:xfrm>
        </p:grpSpPr>
        <p:sp>
          <p:nvSpPr>
            <p:cNvPr name="Freeform 4" id="4"/>
            <p:cNvSpPr/>
            <p:nvPr/>
          </p:nvSpPr>
          <p:spPr>
            <a:xfrm flipH="false" flipV="false" rot="0">
              <a:off x="0" y="0"/>
              <a:ext cx="1026257" cy="311804"/>
            </a:xfrm>
            <a:custGeom>
              <a:avLst/>
              <a:gdLst/>
              <a:ahLst/>
              <a:cxnLst/>
              <a:rect r="r" b="b" t="t" l="l"/>
              <a:pathLst>
                <a:path h="311804" w="1026257">
                  <a:moveTo>
                    <a:pt x="823057" y="0"/>
                  </a:moveTo>
                  <a:lnTo>
                    <a:pt x="0" y="0"/>
                  </a:lnTo>
                  <a:lnTo>
                    <a:pt x="203200" y="311804"/>
                  </a:lnTo>
                  <a:lnTo>
                    <a:pt x="1026257" y="311804"/>
                  </a:lnTo>
                  <a:lnTo>
                    <a:pt x="823057" y="0"/>
                  </a:lnTo>
                  <a:close/>
                </a:path>
              </a:pathLst>
            </a:custGeom>
            <a:solidFill>
              <a:srgbClr val="1836B2"/>
            </a:solidFill>
          </p:spPr>
        </p:sp>
        <p:sp>
          <p:nvSpPr>
            <p:cNvPr name="TextBox 5" id="5"/>
            <p:cNvSpPr txBox="true"/>
            <p:nvPr/>
          </p:nvSpPr>
          <p:spPr>
            <a:xfrm>
              <a:off x="101600" y="-28575"/>
              <a:ext cx="823057" cy="340379"/>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12632346" y="-14622"/>
            <a:ext cx="6684354" cy="1849630"/>
            <a:chOff x="0" y="0"/>
            <a:chExt cx="1283814" cy="355245"/>
          </a:xfrm>
        </p:grpSpPr>
        <p:sp>
          <p:nvSpPr>
            <p:cNvPr name="Freeform 7" id="7"/>
            <p:cNvSpPr/>
            <p:nvPr/>
          </p:nvSpPr>
          <p:spPr>
            <a:xfrm flipH="false" flipV="false" rot="0">
              <a:off x="0" y="0"/>
              <a:ext cx="1283814" cy="355245"/>
            </a:xfrm>
            <a:custGeom>
              <a:avLst/>
              <a:gdLst/>
              <a:ahLst/>
              <a:cxnLst/>
              <a:rect r="r" b="b" t="t" l="l"/>
              <a:pathLst>
                <a:path h="355245" w="1283814">
                  <a:moveTo>
                    <a:pt x="1080614" y="0"/>
                  </a:moveTo>
                  <a:lnTo>
                    <a:pt x="0" y="0"/>
                  </a:lnTo>
                  <a:lnTo>
                    <a:pt x="203200" y="355245"/>
                  </a:lnTo>
                  <a:lnTo>
                    <a:pt x="1283814" y="355245"/>
                  </a:lnTo>
                  <a:lnTo>
                    <a:pt x="1080614" y="0"/>
                  </a:lnTo>
                  <a:close/>
                </a:path>
              </a:pathLst>
            </a:custGeom>
            <a:solidFill>
              <a:srgbClr val="A066CB"/>
            </a:solidFill>
          </p:spPr>
        </p:sp>
        <p:sp>
          <p:nvSpPr>
            <p:cNvPr name="TextBox 8" id="8"/>
            <p:cNvSpPr txBox="true"/>
            <p:nvPr/>
          </p:nvSpPr>
          <p:spPr>
            <a:xfrm>
              <a:off x="101600" y="-28575"/>
              <a:ext cx="1080614" cy="383820"/>
            </a:xfrm>
            <a:prstGeom prst="rect">
              <a:avLst/>
            </a:prstGeom>
          </p:spPr>
          <p:txBody>
            <a:bodyPr anchor="ctr" rtlCol="false" tIns="50800" lIns="50800" bIns="50800" rIns="50800"/>
            <a:lstStyle/>
            <a:p>
              <a:pPr algn="ctr">
                <a:lnSpc>
                  <a:spcPts val="2380"/>
                </a:lnSpc>
              </a:pPr>
            </a:p>
          </p:txBody>
        </p:sp>
      </p:grpSp>
      <p:grpSp>
        <p:nvGrpSpPr>
          <p:cNvPr name="Group 9" id="9"/>
          <p:cNvGrpSpPr/>
          <p:nvPr/>
        </p:nvGrpSpPr>
        <p:grpSpPr>
          <a:xfrm rot="0">
            <a:off x="14095672" y="628042"/>
            <a:ext cx="3506528" cy="564302"/>
            <a:chOff x="0" y="0"/>
            <a:chExt cx="4675371" cy="752402"/>
          </a:xfrm>
        </p:grpSpPr>
        <p:sp>
          <p:nvSpPr>
            <p:cNvPr name="TextBox 10" id="10"/>
            <p:cNvSpPr txBox="true"/>
            <p:nvPr/>
          </p:nvSpPr>
          <p:spPr>
            <a:xfrm rot="0">
              <a:off x="1711549" y="33860"/>
              <a:ext cx="2963821" cy="536171"/>
            </a:xfrm>
            <a:prstGeom prst="rect">
              <a:avLst/>
            </a:prstGeom>
          </p:spPr>
          <p:txBody>
            <a:bodyPr anchor="t" rtlCol="false" tIns="0" lIns="0" bIns="0" rIns="0">
              <a:spAutoFit/>
            </a:bodyPr>
            <a:lstStyle/>
            <a:p>
              <a:pPr algn="l">
                <a:lnSpc>
                  <a:spcPts val="3429"/>
                </a:lnSpc>
                <a:spcBef>
                  <a:spcPct val="0"/>
                </a:spcBef>
              </a:pPr>
              <a:r>
                <a:rPr lang="en-US" sz="2449">
                  <a:solidFill>
                    <a:srgbClr val="FFFFFF"/>
                  </a:solidFill>
                  <a:latin typeface="Cabin"/>
                  <a:ea typeface="Cabin"/>
                  <a:cs typeface="Cabin"/>
                  <a:sym typeface="Cabin"/>
                </a:rPr>
                <a:t>Công Ty HRM</a:t>
              </a:r>
            </a:p>
          </p:txBody>
        </p:sp>
        <p:sp>
          <p:nvSpPr>
            <p:cNvPr name="Freeform 11" id="11"/>
            <p:cNvSpPr/>
            <p:nvPr/>
          </p:nvSpPr>
          <p:spPr>
            <a:xfrm flipH="false" flipV="false" rot="0">
              <a:off x="0" y="0"/>
              <a:ext cx="1317768" cy="752402"/>
            </a:xfrm>
            <a:custGeom>
              <a:avLst/>
              <a:gdLst/>
              <a:ahLst/>
              <a:cxnLst/>
              <a:rect r="r" b="b" t="t" l="l"/>
              <a:pathLst>
                <a:path h="752402" w="1317768">
                  <a:moveTo>
                    <a:pt x="0" y="0"/>
                  </a:moveTo>
                  <a:lnTo>
                    <a:pt x="1317768" y="0"/>
                  </a:lnTo>
                  <a:lnTo>
                    <a:pt x="1317768" y="752402"/>
                  </a:lnTo>
                  <a:lnTo>
                    <a:pt x="0" y="752402"/>
                  </a:lnTo>
                  <a:lnTo>
                    <a:pt x="0" y="0"/>
                  </a:lnTo>
                  <a:close/>
                </a:path>
              </a:pathLst>
            </a:custGeom>
            <a:blipFill>
              <a:blip r:embed="rId3">
                <a:extLst>
                  <a:ext uri="{96DAC541-7B7A-43D3-8B79-37D633B846F1}">
                    <asvg:svgBlip xmlns:asvg="http://schemas.microsoft.com/office/drawing/2016/SVG/main" r:embed="rId4"/>
                  </a:ext>
                </a:extLst>
              </a:blip>
              <a:stretch>
                <a:fillRect l="0" t="-51576" r="0" b="0"/>
              </a:stretch>
            </a:blipFill>
          </p:spPr>
        </p:sp>
      </p:grpSp>
      <p:sp>
        <p:nvSpPr>
          <p:cNvPr name="TextBox 12" id="12"/>
          <p:cNvSpPr txBox="true"/>
          <p:nvPr/>
        </p:nvSpPr>
        <p:spPr>
          <a:xfrm rot="0">
            <a:off x="530589" y="5434745"/>
            <a:ext cx="10454249" cy="2671446"/>
          </a:xfrm>
          <a:prstGeom prst="rect">
            <a:avLst/>
          </a:prstGeom>
        </p:spPr>
        <p:txBody>
          <a:bodyPr anchor="t" rtlCol="false" tIns="0" lIns="0" bIns="0" rIns="0">
            <a:spAutoFit/>
          </a:bodyPr>
          <a:lstStyle/>
          <a:p>
            <a:pPr algn="ctr">
              <a:lnSpc>
                <a:spcPts val="10779"/>
              </a:lnSpc>
            </a:pPr>
            <a:r>
              <a:rPr lang="en-US" b="true" sz="7699" spc="230">
                <a:solidFill>
                  <a:srgbClr val="FFFFFF"/>
                </a:solidFill>
                <a:latin typeface="Cabin Bold"/>
                <a:ea typeface="Cabin Bold"/>
                <a:cs typeface="Cabin Bold"/>
                <a:sym typeface="Cabin Bold"/>
              </a:rPr>
              <a:t>HỆ THỐNG QUẢN LÝ NHÂN VIÊN</a:t>
            </a:r>
          </a:p>
        </p:txBody>
      </p:sp>
      <p:sp>
        <p:nvSpPr>
          <p:cNvPr name="TextBox 13" id="13"/>
          <p:cNvSpPr txBox="true"/>
          <p:nvPr/>
        </p:nvSpPr>
        <p:spPr>
          <a:xfrm rot="0">
            <a:off x="3462196" y="8948103"/>
            <a:ext cx="9306426" cy="563245"/>
          </a:xfrm>
          <a:prstGeom prst="rect">
            <a:avLst/>
          </a:prstGeom>
        </p:spPr>
        <p:txBody>
          <a:bodyPr anchor="t" rtlCol="false" tIns="0" lIns="0" bIns="0" rIns="0">
            <a:spAutoFit/>
          </a:bodyPr>
          <a:lstStyle/>
          <a:p>
            <a:pPr algn="l">
              <a:lnSpc>
                <a:spcPts val="4655"/>
              </a:lnSpc>
            </a:pPr>
            <a:r>
              <a:rPr lang="en-US" sz="3325" spc="99">
                <a:solidFill>
                  <a:srgbClr val="FFFFFF"/>
                </a:solidFill>
                <a:latin typeface="Cabin"/>
                <a:ea typeface="Cabin"/>
                <a:cs typeface="Cabin"/>
                <a:sym typeface="Cabin"/>
              </a:rPr>
              <a:t>Sinh viên thực hiện : Trà Duy Bảo - 2301010046</a:t>
            </a:r>
          </a:p>
        </p:txBody>
      </p:sp>
      <p:sp>
        <p:nvSpPr>
          <p:cNvPr name="TextBox 14" id="14"/>
          <p:cNvSpPr txBox="true"/>
          <p:nvPr/>
        </p:nvSpPr>
        <p:spPr>
          <a:xfrm rot="0">
            <a:off x="3462196" y="8365808"/>
            <a:ext cx="9306426" cy="563245"/>
          </a:xfrm>
          <a:prstGeom prst="rect">
            <a:avLst/>
          </a:prstGeom>
        </p:spPr>
        <p:txBody>
          <a:bodyPr anchor="t" rtlCol="false" tIns="0" lIns="0" bIns="0" rIns="0">
            <a:spAutoFit/>
          </a:bodyPr>
          <a:lstStyle/>
          <a:p>
            <a:pPr algn="l">
              <a:lnSpc>
                <a:spcPts val="4655"/>
              </a:lnSpc>
            </a:pPr>
            <a:r>
              <a:rPr lang="en-US" sz="3325" spc="99">
                <a:solidFill>
                  <a:srgbClr val="FFFFFF"/>
                </a:solidFill>
                <a:latin typeface="Cabin"/>
                <a:ea typeface="Cabin"/>
                <a:cs typeface="Cabin"/>
                <a:sym typeface="Cabin"/>
              </a:rPr>
              <a:t>Học phần : Phát triển dự án Angular JS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1451638" cy="828838"/>
          </a:xfrm>
          <a:custGeom>
            <a:avLst/>
            <a:gdLst/>
            <a:ahLst/>
            <a:cxnLst/>
            <a:rect r="r" b="b" t="t" l="l"/>
            <a:pathLst>
              <a:path h="828838" w="1451638">
                <a:moveTo>
                  <a:pt x="0" y="0"/>
                </a:moveTo>
                <a:lnTo>
                  <a:pt x="1451638" y="0"/>
                </a:lnTo>
                <a:lnTo>
                  <a:pt x="1451638" y="828838"/>
                </a:lnTo>
                <a:lnTo>
                  <a:pt x="0" y="828838"/>
                </a:lnTo>
                <a:lnTo>
                  <a:pt x="0"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graphicFrame>
        <p:nvGraphicFramePr>
          <p:cNvPr name="Table 3" id="3"/>
          <p:cNvGraphicFramePr>
            <a:graphicFrameLocks noGrp="true"/>
          </p:cNvGraphicFramePr>
          <p:nvPr/>
        </p:nvGraphicFramePr>
        <p:xfrm>
          <a:off x="8658225" y="915495"/>
          <a:ext cx="8601075" cy="8267232"/>
        </p:xfrm>
        <a:graphic>
          <a:graphicData uri="http://schemas.openxmlformats.org/drawingml/2006/table">
            <a:tbl>
              <a:tblPr/>
              <a:tblGrid>
                <a:gridCol w="2727170"/>
                <a:gridCol w="5873905"/>
              </a:tblGrid>
              <a:tr h="1653446">
                <a:tc>
                  <a:txBody>
                    <a:bodyPr anchor="t" rtlCol="false"/>
                    <a:lstStyle/>
                    <a:p>
                      <a:pPr algn="l">
                        <a:lnSpc>
                          <a:spcPts val="4900"/>
                        </a:lnSpc>
                        <a:defRPr/>
                      </a:pPr>
                      <a:r>
                        <a:rPr lang="en-US" sz="3500" b="true">
                          <a:solidFill>
                            <a:srgbClr val="1836B2"/>
                          </a:solidFill>
                          <a:latin typeface="Cabin Bold"/>
                          <a:ea typeface="Cabin Bold"/>
                          <a:cs typeface="Cabin Bold"/>
                          <a:sym typeface="Cabin Bold"/>
                        </a:rPr>
                        <a:t>Phần 1:</a:t>
                      </a:r>
                      <a:endParaRPr lang="en-US" sz="1100"/>
                    </a:p>
                  </a:txBody>
                  <a:tcPr marL="190500" marR="190500" marT="190500" marB="190500" anchor="ctr">
                    <a:lnL cmpd="sng" algn="ctr" cap="flat" w="0">
                      <a:solidFill>
                        <a:srgbClr val="86C7ED"/>
                      </a:solidFill>
                      <a:prstDash val="solid"/>
                      <a:round/>
                      <a:headEnd type="none" w="med" len="med"/>
                      <a:tailEnd type="none" w="med" len="med"/>
                    </a:lnL>
                    <a:lnR cmpd="sng" algn="ctr" cap="flat" w="0">
                      <a:solidFill>
                        <a:srgbClr val="86C7ED"/>
                      </a:solidFill>
                      <a:prstDash val="solid"/>
                      <a:round/>
                      <a:headEnd type="none" w="med" len="med"/>
                      <a:tailEnd type="none" w="med" len="med"/>
                    </a:lnR>
                    <a:lnT cmpd="sng" algn="ctr" cap="flat" w="0">
                      <a:solidFill>
                        <a:srgbClr val="86C7ED"/>
                      </a:solidFill>
                      <a:prstDash val="solid"/>
                      <a:round/>
                      <a:headEnd type="none" w="med" len="med"/>
                      <a:tailEnd type="none" w="med" len="med"/>
                    </a:lnT>
                    <a:lnB cmpd="sng" algn="ctr" cap="flat" w="57150">
                      <a:solidFill>
                        <a:srgbClr val="86C7ED"/>
                      </a:solidFill>
                      <a:prstDash val="solid"/>
                      <a:round/>
                      <a:headEnd type="none" w="med" len="med"/>
                      <a:tailEnd type="none" w="med" len="med"/>
                    </a:lnB>
                  </a:tcPr>
                </a:tc>
                <a:tc>
                  <a:txBody>
                    <a:bodyPr anchor="t" rtlCol="false"/>
                    <a:lstStyle/>
                    <a:p>
                      <a:pPr algn="l">
                        <a:lnSpc>
                          <a:spcPts val="4200"/>
                        </a:lnSpc>
                        <a:defRPr/>
                      </a:pPr>
                      <a:r>
                        <a:rPr lang="en-US" sz="3000">
                          <a:solidFill>
                            <a:srgbClr val="000000"/>
                          </a:solidFill>
                          <a:latin typeface="Cabin"/>
                          <a:ea typeface="Cabin"/>
                          <a:cs typeface="Cabin"/>
                          <a:sym typeface="Cabin"/>
                        </a:rPr>
                        <a:t>Mục đích chọn đề tài</a:t>
                      </a:r>
                      <a:endParaRPr lang="en-US" sz="1100"/>
                    </a:p>
                  </a:txBody>
                  <a:tcPr marL="190500" marR="190500" marT="190500" marB="190500" anchor="ctr">
                    <a:lnL cmpd="sng" algn="ctr" cap="flat" w="0">
                      <a:solidFill>
                        <a:srgbClr val="86C7ED"/>
                      </a:solidFill>
                      <a:prstDash val="solid"/>
                      <a:round/>
                      <a:headEnd type="none" w="med" len="med"/>
                      <a:tailEnd type="none" w="med" len="med"/>
                    </a:lnL>
                    <a:lnR cmpd="sng" algn="ctr" cap="flat" w="0">
                      <a:solidFill>
                        <a:srgbClr val="86C7ED"/>
                      </a:solidFill>
                      <a:prstDash val="solid"/>
                      <a:round/>
                      <a:headEnd type="none" w="med" len="med"/>
                      <a:tailEnd type="none" w="med" len="med"/>
                    </a:lnR>
                    <a:lnT cmpd="sng" algn="ctr" cap="flat" w="0">
                      <a:solidFill>
                        <a:srgbClr val="86C7ED"/>
                      </a:solidFill>
                      <a:prstDash val="solid"/>
                      <a:round/>
                      <a:headEnd type="none" w="med" len="med"/>
                      <a:tailEnd type="none" w="med" len="med"/>
                    </a:lnT>
                    <a:lnB cmpd="sng" algn="ctr" cap="flat" w="57150">
                      <a:solidFill>
                        <a:srgbClr val="86C7ED"/>
                      </a:solidFill>
                      <a:prstDash val="solid"/>
                      <a:round/>
                      <a:headEnd type="none" w="med" len="med"/>
                      <a:tailEnd type="none" w="med" len="med"/>
                    </a:lnB>
                  </a:tcPr>
                </a:tc>
              </a:tr>
              <a:tr h="1653446">
                <a:tc>
                  <a:txBody>
                    <a:bodyPr anchor="t" rtlCol="false"/>
                    <a:lstStyle/>
                    <a:p>
                      <a:pPr algn="l">
                        <a:lnSpc>
                          <a:spcPts val="4900"/>
                        </a:lnSpc>
                        <a:defRPr/>
                      </a:pPr>
                      <a:r>
                        <a:rPr lang="en-US" sz="3500" b="true">
                          <a:solidFill>
                            <a:srgbClr val="1836B2"/>
                          </a:solidFill>
                          <a:latin typeface="Cabin Semi-Bold"/>
                          <a:ea typeface="Cabin Semi-Bold"/>
                          <a:cs typeface="Cabin Semi-Bold"/>
                          <a:sym typeface="Cabin Semi-Bold"/>
                        </a:rPr>
                        <a:t>Phần 2:</a:t>
                      </a:r>
                      <a:endParaRPr lang="en-US" sz="1100"/>
                    </a:p>
                  </a:txBody>
                  <a:tcPr marL="190500" marR="190500" marT="190500" marB="190500" anchor="ctr">
                    <a:lnL cmpd="sng" algn="ctr" cap="flat" w="0">
                      <a:solidFill>
                        <a:srgbClr val="86C7ED"/>
                      </a:solidFill>
                      <a:prstDash val="solid"/>
                      <a:round/>
                      <a:headEnd type="none" w="med" len="med"/>
                      <a:tailEnd type="none" w="med" len="med"/>
                    </a:lnL>
                    <a:lnR cmpd="sng" algn="ctr" cap="flat" w="0">
                      <a:solidFill>
                        <a:srgbClr val="86C7ED"/>
                      </a:solidFill>
                      <a:prstDash val="solid"/>
                      <a:round/>
                      <a:headEnd type="none" w="med" len="med"/>
                      <a:tailEnd type="none" w="med" len="med"/>
                    </a:lnR>
                    <a:lnT cmpd="sng" algn="ctr" cap="flat" w="57150">
                      <a:solidFill>
                        <a:srgbClr val="86C7ED"/>
                      </a:solidFill>
                      <a:prstDash val="solid"/>
                      <a:round/>
                      <a:headEnd type="none" w="med" len="med"/>
                      <a:tailEnd type="none" w="med" len="med"/>
                    </a:lnT>
                    <a:lnB cmpd="sng" algn="ctr" cap="flat" w="57150">
                      <a:solidFill>
                        <a:srgbClr val="86C7ED"/>
                      </a:solidFill>
                      <a:prstDash val="solid"/>
                      <a:round/>
                      <a:headEnd type="none" w="med" len="med"/>
                      <a:tailEnd type="none" w="med" len="med"/>
                    </a:lnB>
                  </a:tcPr>
                </a:tc>
                <a:tc>
                  <a:txBody>
                    <a:bodyPr anchor="t" rtlCol="false"/>
                    <a:lstStyle/>
                    <a:p>
                      <a:pPr algn="l">
                        <a:lnSpc>
                          <a:spcPts val="4200"/>
                        </a:lnSpc>
                        <a:defRPr/>
                      </a:pPr>
                      <a:r>
                        <a:rPr lang="en-US" sz="3000" b="true">
                          <a:solidFill>
                            <a:srgbClr val="000000"/>
                          </a:solidFill>
                          <a:latin typeface="Cabin Medium"/>
                          <a:ea typeface="Cabin Medium"/>
                          <a:cs typeface="Cabin Medium"/>
                          <a:sym typeface="Cabin Medium"/>
                        </a:rPr>
                        <a:t>Phân tích chức năng</a:t>
                      </a:r>
                      <a:endParaRPr lang="en-US" sz="1100"/>
                    </a:p>
                  </a:txBody>
                  <a:tcPr marL="190500" marR="190500" marT="190500" marB="190500" anchor="ctr">
                    <a:lnL cmpd="sng" algn="ctr" cap="flat" w="0">
                      <a:solidFill>
                        <a:srgbClr val="86C7ED"/>
                      </a:solidFill>
                      <a:prstDash val="solid"/>
                      <a:round/>
                      <a:headEnd type="none" w="med" len="med"/>
                      <a:tailEnd type="none" w="med" len="med"/>
                    </a:lnL>
                    <a:lnR cmpd="sng" algn="ctr" cap="flat" w="0">
                      <a:solidFill>
                        <a:srgbClr val="86C7ED"/>
                      </a:solidFill>
                      <a:prstDash val="solid"/>
                      <a:round/>
                      <a:headEnd type="none" w="med" len="med"/>
                      <a:tailEnd type="none" w="med" len="med"/>
                    </a:lnR>
                    <a:lnT cmpd="sng" algn="ctr" cap="flat" w="57150">
                      <a:solidFill>
                        <a:srgbClr val="86C7ED"/>
                      </a:solidFill>
                      <a:prstDash val="solid"/>
                      <a:round/>
                      <a:headEnd type="none" w="med" len="med"/>
                      <a:tailEnd type="none" w="med" len="med"/>
                    </a:lnT>
                    <a:lnB cmpd="sng" algn="ctr" cap="flat" w="57150">
                      <a:solidFill>
                        <a:srgbClr val="86C7ED"/>
                      </a:solidFill>
                      <a:prstDash val="solid"/>
                      <a:round/>
                      <a:headEnd type="none" w="med" len="med"/>
                      <a:tailEnd type="none" w="med" len="med"/>
                    </a:lnB>
                  </a:tcPr>
                </a:tc>
              </a:tr>
              <a:tr h="1653446">
                <a:tc>
                  <a:txBody>
                    <a:bodyPr anchor="t" rtlCol="false"/>
                    <a:lstStyle/>
                    <a:p>
                      <a:pPr algn="l">
                        <a:lnSpc>
                          <a:spcPts val="4900"/>
                        </a:lnSpc>
                        <a:defRPr/>
                      </a:pPr>
                      <a:r>
                        <a:rPr lang="en-US" sz="3500" b="true">
                          <a:solidFill>
                            <a:srgbClr val="1836B2"/>
                          </a:solidFill>
                          <a:latin typeface="Cabin Semi-Bold"/>
                          <a:ea typeface="Cabin Semi-Bold"/>
                          <a:cs typeface="Cabin Semi-Bold"/>
                          <a:sym typeface="Cabin Semi-Bold"/>
                        </a:rPr>
                        <a:t>Phần 3:</a:t>
                      </a:r>
                      <a:endParaRPr lang="en-US" sz="1100"/>
                    </a:p>
                  </a:txBody>
                  <a:tcPr marL="190500" marR="190500" marT="190500" marB="190500" anchor="ctr">
                    <a:lnL cmpd="sng" algn="ctr" cap="flat" w="0">
                      <a:solidFill>
                        <a:srgbClr val="86C7ED"/>
                      </a:solidFill>
                      <a:prstDash val="solid"/>
                      <a:round/>
                      <a:headEnd type="none" w="med" len="med"/>
                      <a:tailEnd type="none" w="med" len="med"/>
                    </a:lnL>
                    <a:lnR cmpd="sng" algn="ctr" cap="flat" w="0">
                      <a:solidFill>
                        <a:srgbClr val="86C7ED"/>
                      </a:solidFill>
                      <a:prstDash val="solid"/>
                      <a:round/>
                      <a:headEnd type="none" w="med" len="med"/>
                      <a:tailEnd type="none" w="med" len="med"/>
                    </a:lnR>
                    <a:lnT cmpd="sng" algn="ctr" cap="flat" w="57150">
                      <a:solidFill>
                        <a:srgbClr val="86C7ED"/>
                      </a:solidFill>
                      <a:prstDash val="solid"/>
                      <a:round/>
                      <a:headEnd type="none" w="med" len="med"/>
                      <a:tailEnd type="none" w="med" len="med"/>
                    </a:lnT>
                    <a:lnB cmpd="sng" algn="ctr" cap="flat" w="57150">
                      <a:solidFill>
                        <a:srgbClr val="86C7ED"/>
                      </a:solidFill>
                      <a:prstDash val="solid"/>
                      <a:round/>
                      <a:headEnd type="none" w="med" len="med"/>
                      <a:tailEnd type="none" w="med" len="med"/>
                    </a:lnB>
                  </a:tcPr>
                </a:tc>
                <a:tc>
                  <a:txBody>
                    <a:bodyPr anchor="t" rtlCol="false"/>
                    <a:lstStyle/>
                    <a:p>
                      <a:pPr algn="l">
                        <a:lnSpc>
                          <a:spcPts val="4200"/>
                        </a:lnSpc>
                        <a:defRPr/>
                      </a:pPr>
                      <a:r>
                        <a:rPr lang="en-US" sz="3000">
                          <a:solidFill>
                            <a:srgbClr val="000000"/>
                          </a:solidFill>
                          <a:latin typeface="Cabin"/>
                          <a:ea typeface="Cabin"/>
                          <a:cs typeface="Cabin"/>
                          <a:sym typeface="Cabin"/>
                        </a:rPr>
                        <a:t>Tổng quan công nghệ</a:t>
                      </a:r>
                      <a:endParaRPr lang="en-US" sz="1100"/>
                    </a:p>
                  </a:txBody>
                  <a:tcPr marL="190500" marR="190500" marT="190500" marB="190500" anchor="ctr">
                    <a:lnL cmpd="sng" algn="ctr" cap="flat" w="0">
                      <a:solidFill>
                        <a:srgbClr val="86C7ED"/>
                      </a:solidFill>
                      <a:prstDash val="solid"/>
                      <a:round/>
                      <a:headEnd type="none" w="med" len="med"/>
                      <a:tailEnd type="none" w="med" len="med"/>
                    </a:lnL>
                    <a:lnR cmpd="sng" algn="ctr" cap="flat" w="0">
                      <a:solidFill>
                        <a:srgbClr val="86C7ED"/>
                      </a:solidFill>
                      <a:prstDash val="solid"/>
                      <a:round/>
                      <a:headEnd type="none" w="med" len="med"/>
                      <a:tailEnd type="none" w="med" len="med"/>
                    </a:lnR>
                    <a:lnT cmpd="sng" algn="ctr" cap="flat" w="57150">
                      <a:solidFill>
                        <a:srgbClr val="86C7ED"/>
                      </a:solidFill>
                      <a:prstDash val="solid"/>
                      <a:round/>
                      <a:headEnd type="none" w="med" len="med"/>
                      <a:tailEnd type="none" w="med" len="med"/>
                    </a:lnT>
                    <a:lnB cmpd="sng" algn="ctr" cap="flat" w="57150">
                      <a:solidFill>
                        <a:srgbClr val="86C7ED"/>
                      </a:solidFill>
                      <a:prstDash val="solid"/>
                      <a:round/>
                      <a:headEnd type="none" w="med" len="med"/>
                      <a:tailEnd type="none" w="med" len="med"/>
                    </a:lnB>
                  </a:tcPr>
                </a:tc>
              </a:tr>
              <a:tr h="1653446">
                <a:tc>
                  <a:txBody>
                    <a:bodyPr anchor="t" rtlCol="false"/>
                    <a:lstStyle/>
                    <a:p>
                      <a:pPr algn="l">
                        <a:lnSpc>
                          <a:spcPts val="4900"/>
                        </a:lnSpc>
                        <a:defRPr/>
                      </a:pPr>
                      <a:r>
                        <a:rPr lang="en-US" sz="3500" b="true">
                          <a:solidFill>
                            <a:srgbClr val="1836B2"/>
                          </a:solidFill>
                          <a:latin typeface="Cabin Semi-Bold"/>
                          <a:ea typeface="Cabin Semi-Bold"/>
                          <a:cs typeface="Cabin Semi-Bold"/>
                          <a:sym typeface="Cabin Semi-Bold"/>
                        </a:rPr>
                        <a:t>Phần 4: </a:t>
                      </a:r>
                      <a:endParaRPr lang="en-US" sz="1100"/>
                    </a:p>
                  </a:txBody>
                  <a:tcPr marL="190500" marR="190500" marT="190500" marB="190500" anchor="ctr">
                    <a:lnL cmpd="sng" algn="ctr" cap="flat" w="0">
                      <a:solidFill>
                        <a:srgbClr val="86C7ED"/>
                      </a:solidFill>
                      <a:prstDash val="solid"/>
                      <a:round/>
                      <a:headEnd type="none" w="med" len="med"/>
                      <a:tailEnd type="none" w="med" len="med"/>
                    </a:lnL>
                    <a:lnR cmpd="sng" algn="ctr" cap="flat" w="0">
                      <a:solidFill>
                        <a:srgbClr val="86C7ED"/>
                      </a:solidFill>
                      <a:prstDash val="solid"/>
                      <a:round/>
                      <a:headEnd type="none" w="med" len="med"/>
                      <a:tailEnd type="none" w="med" len="med"/>
                    </a:lnR>
                    <a:lnT cmpd="sng" algn="ctr" cap="flat" w="57150">
                      <a:solidFill>
                        <a:srgbClr val="86C7ED"/>
                      </a:solidFill>
                      <a:prstDash val="solid"/>
                      <a:round/>
                      <a:headEnd type="none" w="med" len="med"/>
                      <a:tailEnd type="none" w="med" len="med"/>
                    </a:lnT>
                    <a:lnB cmpd="sng" algn="ctr" cap="flat" w="57150">
                      <a:solidFill>
                        <a:srgbClr val="86C7ED"/>
                      </a:solidFill>
                      <a:prstDash val="solid"/>
                      <a:round/>
                      <a:headEnd type="none" w="med" len="med"/>
                      <a:tailEnd type="none" w="med" len="med"/>
                    </a:lnB>
                  </a:tcPr>
                </a:tc>
                <a:tc>
                  <a:txBody>
                    <a:bodyPr anchor="t" rtlCol="false"/>
                    <a:lstStyle/>
                    <a:p>
                      <a:pPr algn="l">
                        <a:lnSpc>
                          <a:spcPts val="4200"/>
                        </a:lnSpc>
                        <a:defRPr/>
                      </a:pPr>
                      <a:r>
                        <a:rPr lang="en-US" sz="3000">
                          <a:solidFill>
                            <a:srgbClr val="000000"/>
                          </a:solidFill>
                          <a:latin typeface="Cabin"/>
                          <a:ea typeface="Cabin"/>
                          <a:cs typeface="Cabin"/>
                          <a:sym typeface="Cabin"/>
                        </a:rPr>
                        <a:t>Sơ đồ Database + ERD</a:t>
                      </a:r>
                      <a:endParaRPr lang="en-US" sz="1100"/>
                    </a:p>
                  </a:txBody>
                  <a:tcPr marL="190500" marR="190500" marT="190500" marB="190500" anchor="ctr">
                    <a:lnL cmpd="sng" algn="ctr" cap="flat" w="0">
                      <a:solidFill>
                        <a:srgbClr val="86C7ED"/>
                      </a:solidFill>
                      <a:prstDash val="solid"/>
                      <a:round/>
                      <a:headEnd type="none" w="med" len="med"/>
                      <a:tailEnd type="none" w="med" len="med"/>
                    </a:lnL>
                    <a:lnR cmpd="sng" algn="ctr" cap="flat" w="0">
                      <a:solidFill>
                        <a:srgbClr val="86C7ED"/>
                      </a:solidFill>
                      <a:prstDash val="solid"/>
                      <a:round/>
                      <a:headEnd type="none" w="med" len="med"/>
                      <a:tailEnd type="none" w="med" len="med"/>
                    </a:lnR>
                    <a:lnT cmpd="sng" algn="ctr" cap="flat" w="57150">
                      <a:solidFill>
                        <a:srgbClr val="86C7ED"/>
                      </a:solidFill>
                      <a:prstDash val="solid"/>
                      <a:round/>
                      <a:headEnd type="none" w="med" len="med"/>
                      <a:tailEnd type="none" w="med" len="med"/>
                    </a:lnT>
                    <a:lnB cmpd="sng" algn="ctr" cap="flat" w="57150">
                      <a:solidFill>
                        <a:srgbClr val="86C7ED"/>
                      </a:solidFill>
                      <a:prstDash val="solid"/>
                      <a:round/>
                      <a:headEnd type="none" w="med" len="med"/>
                      <a:tailEnd type="none" w="med" len="med"/>
                    </a:lnB>
                  </a:tcPr>
                </a:tc>
              </a:tr>
              <a:tr h="1653446">
                <a:tc>
                  <a:txBody>
                    <a:bodyPr anchor="t" rtlCol="false"/>
                    <a:lstStyle/>
                    <a:p>
                      <a:pPr algn="l">
                        <a:lnSpc>
                          <a:spcPts val="4900"/>
                        </a:lnSpc>
                        <a:defRPr/>
                      </a:pPr>
                      <a:r>
                        <a:rPr lang="en-US" sz="3500" b="true">
                          <a:solidFill>
                            <a:srgbClr val="1836B2"/>
                          </a:solidFill>
                          <a:latin typeface="Cabin Semi-Bold"/>
                          <a:ea typeface="Cabin Semi-Bold"/>
                          <a:cs typeface="Cabin Semi-Bold"/>
                          <a:sym typeface="Cabin Semi-Bold"/>
                        </a:rPr>
                        <a:t>Phần 5:</a:t>
                      </a:r>
                      <a:endParaRPr lang="en-US" sz="1100"/>
                    </a:p>
                  </a:txBody>
                  <a:tcPr marL="190500" marR="190500" marT="190500" marB="190500" anchor="ctr">
                    <a:lnL cmpd="sng" algn="ctr" cap="flat" w="0">
                      <a:solidFill>
                        <a:srgbClr val="86C7ED"/>
                      </a:solidFill>
                      <a:prstDash val="solid"/>
                      <a:round/>
                      <a:headEnd type="none" w="med" len="med"/>
                      <a:tailEnd type="none" w="med" len="med"/>
                    </a:lnL>
                    <a:lnR cmpd="sng" algn="ctr" cap="flat" w="0">
                      <a:solidFill>
                        <a:srgbClr val="86C7ED"/>
                      </a:solidFill>
                      <a:prstDash val="solid"/>
                      <a:round/>
                      <a:headEnd type="none" w="med" len="med"/>
                      <a:tailEnd type="none" w="med" len="med"/>
                    </a:lnR>
                    <a:lnT cmpd="sng" algn="ctr" cap="flat" w="57150">
                      <a:solidFill>
                        <a:srgbClr val="86C7ED"/>
                      </a:solidFill>
                      <a:prstDash val="solid"/>
                      <a:round/>
                      <a:headEnd type="none" w="med" len="med"/>
                      <a:tailEnd type="none" w="med" len="med"/>
                    </a:lnT>
                    <a:lnB cmpd="sng" algn="ctr" cap="flat" w="0">
                      <a:solidFill>
                        <a:srgbClr val="86C7ED"/>
                      </a:solidFill>
                      <a:prstDash val="solid"/>
                      <a:round/>
                      <a:headEnd type="none" w="med" len="med"/>
                      <a:tailEnd type="none" w="med" len="med"/>
                    </a:lnB>
                  </a:tcPr>
                </a:tc>
                <a:tc>
                  <a:txBody>
                    <a:bodyPr anchor="t" rtlCol="false"/>
                    <a:lstStyle/>
                    <a:p>
                      <a:pPr algn="l">
                        <a:lnSpc>
                          <a:spcPts val="4200"/>
                        </a:lnSpc>
                        <a:defRPr/>
                      </a:pPr>
                      <a:r>
                        <a:rPr lang="en-US" sz="3000">
                          <a:solidFill>
                            <a:srgbClr val="000000"/>
                          </a:solidFill>
                          <a:latin typeface="Cabin"/>
                          <a:ea typeface="Cabin"/>
                          <a:cs typeface="Cabin"/>
                          <a:sym typeface="Cabin"/>
                        </a:rPr>
                        <a:t>Module chương trình</a:t>
                      </a:r>
                      <a:endParaRPr lang="en-US" sz="1100"/>
                    </a:p>
                  </a:txBody>
                  <a:tcPr marL="190500" marR="190500" marT="190500" marB="190500" anchor="ctr">
                    <a:lnL cmpd="sng" algn="ctr" cap="flat" w="0">
                      <a:solidFill>
                        <a:srgbClr val="86C7ED"/>
                      </a:solidFill>
                      <a:prstDash val="solid"/>
                      <a:round/>
                      <a:headEnd type="none" w="med" len="med"/>
                      <a:tailEnd type="none" w="med" len="med"/>
                    </a:lnL>
                    <a:lnR cmpd="sng" algn="ctr" cap="flat" w="0">
                      <a:solidFill>
                        <a:srgbClr val="86C7ED"/>
                      </a:solidFill>
                      <a:prstDash val="solid"/>
                      <a:round/>
                      <a:headEnd type="none" w="med" len="med"/>
                      <a:tailEnd type="none" w="med" len="med"/>
                    </a:lnR>
                    <a:lnT cmpd="sng" algn="ctr" cap="flat" w="57150">
                      <a:solidFill>
                        <a:srgbClr val="86C7ED"/>
                      </a:solidFill>
                      <a:prstDash val="solid"/>
                      <a:round/>
                      <a:headEnd type="none" w="med" len="med"/>
                      <a:tailEnd type="none" w="med" len="med"/>
                    </a:lnT>
                    <a:lnB cmpd="sng" algn="ctr" cap="flat" w="0">
                      <a:solidFill>
                        <a:srgbClr val="86C7ED"/>
                      </a:solidFill>
                      <a:prstDash val="solid"/>
                      <a:round/>
                      <a:headEnd type="none" w="med" len="med"/>
                      <a:tailEnd type="none" w="med" len="med"/>
                    </a:lnB>
                  </a:tcPr>
                </a:tc>
              </a:tr>
            </a:tbl>
          </a:graphicData>
        </a:graphic>
      </p:graphicFrame>
      <p:sp>
        <p:nvSpPr>
          <p:cNvPr name="TextBox 4" id="4"/>
          <p:cNvSpPr txBox="true"/>
          <p:nvPr/>
        </p:nvSpPr>
        <p:spPr>
          <a:xfrm rot="0">
            <a:off x="1028700" y="2984726"/>
            <a:ext cx="5570799" cy="2064385"/>
          </a:xfrm>
          <a:prstGeom prst="rect">
            <a:avLst/>
          </a:prstGeom>
        </p:spPr>
        <p:txBody>
          <a:bodyPr anchor="t" rtlCol="false" tIns="0" lIns="0" bIns="0" rIns="0">
            <a:spAutoFit/>
          </a:bodyPr>
          <a:lstStyle/>
          <a:p>
            <a:pPr algn="l">
              <a:lnSpc>
                <a:spcPts val="8029"/>
              </a:lnSpc>
            </a:pPr>
            <a:r>
              <a:rPr lang="en-US" sz="7299" b="true">
                <a:solidFill>
                  <a:srgbClr val="1836B2"/>
                </a:solidFill>
                <a:latin typeface="Cabin Semi-Bold"/>
                <a:ea typeface="Cabin Semi-Bold"/>
                <a:cs typeface="Cabin Semi-Bold"/>
                <a:sym typeface="Cabin Semi-Bold"/>
              </a:rPr>
              <a:t>Kế hoạch phát triển</a:t>
            </a:r>
          </a:p>
        </p:txBody>
      </p:sp>
      <p:grpSp>
        <p:nvGrpSpPr>
          <p:cNvPr name="Group 5" id="5"/>
          <p:cNvGrpSpPr/>
          <p:nvPr/>
        </p:nvGrpSpPr>
        <p:grpSpPr>
          <a:xfrm rot="0">
            <a:off x="330967" y="9592074"/>
            <a:ext cx="17626066" cy="2658733"/>
            <a:chOff x="0" y="0"/>
            <a:chExt cx="4563075" cy="688299"/>
          </a:xfrm>
        </p:grpSpPr>
        <p:sp>
          <p:nvSpPr>
            <p:cNvPr name="Freeform 6" id="6"/>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7" id="7"/>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A066CB"/>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0980812" y="1688492"/>
            <a:ext cx="10801161" cy="9353318"/>
            <a:chOff x="0" y="0"/>
            <a:chExt cx="4282440" cy="3708400"/>
          </a:xfrm>
        </p:grpSpPr>
        <p:sp>
          <p:nvSpPr>
            <p:cNvPr name="Freeform 3" id="3"/>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2"/>
              <a:stretch>
                <a:fillRect l="-23440" t="0" r="-6452" b="0"/>
              </a:stretch>
            </a:blipFill>
          </p:spPr>
        </p:sp>
      </p:grpSp>
      <p:sp>
        <p:nvSpPr>
          <p:cNvPr name="TextBox 4" id="4"/>
          <p:cNvSpPr txBox="true"/>
          <p:nvPr/>
        </p:nvSpPr>
        <p:spPr>
          <a:xfrm rot="0">
            <a:off x="0" y="494692"/>
            <a:ext cx="12446316" cy="1193800"/>
          </a:xfrm>
          <a:prstGeom prst="rect">
            <a:avLst/>
          </a:prstGeom>
        </p:spPr>
        <p:txBody>
          <a:bodyPr anchor="t" rtlCol="false" tIns="0" lIns="0" bIns="0" rIns="0">
            <a:spAutoFit/>
          </a:bodyPr>
          <a:lstStyle/>
          <a:p>
            <a:pPr algn="l" marL="1511299" indent="-755650" lvl="1">
              <a:lnSpc>
                <a:spcPts val="9799"/>
              </a:lnSpc>
              <a:spcBef>
                <a:spcPct val="0"/>
              </a:spcBef>
              <a:buAutoNum type="arabicPeriod" startAt="1"/>
            </a:pPr>
            <a:r>
              <a:rPr lang="en-US" b="true" sz="6999" spc="-139">
                <a:solidFill>
                  <a:srgbClr val="FFFFFF"/>
                </a:solidFill>
                <a:latin typeface="Cabin Medium"/>
                <a:ea typeface="Cabin Medium"/>
                <a:cs typeface="Cabin Medium"/>
                <a:sym typeface="Cabin Medium"/>
              </a:rPr>
              <a:t> Mục đích &amp; Lý do chọn đề tài</a:t>
            </a:r>
          </a:p>
        </p:txBody>
      </p:sp>
      <p:grpSp>
        <p:nvGrpSpPr>
          <p:cNvPr name="Group 5" id="5"/>
          <p:cNvGrpSpPr/>
          <p:nvPr/>
        </p:nvGrpSpPr>
        <p:grpSpPr>
          <a:xfrm rot="0">
            <a:off x="12645792" y="-161138"/>
            <a:ext cx="6684354" cy="1849630"/>
            <a:chOff x="0" y="0"/>
            <a:chExt cx="1283814" cy="355245"/>
          </a:xfrm>
        </p:grpSpPr>
        <p:sp>
          <p:nvSpPr>
            <p:cNvPr name="Freeform 6" id="6"/>
            <p:cNvSpPr/>
            <p:nvPr/>
          </p:nvSpPr>
          <p:spPr>
            <a:xfrm flipH="false" flipV="false" rot="0">
              <a:off x="0" y="0"/>
              <a:ext cx="1283814" cy="355245"/>
            </a:xfrm>
            <a:custGeom>
              <a:avLst/>
              <a:gdLst/>
              <a:ahLst/>
              <a:cxnLst/>
              <a:rect r="r" b="b" t="t" l="l"/>
              <a:pathLst>
                <a:path h="355245" w="1283814">
                  <a:moveTo>
                    <a:pt x="1080614" y="0"/>
                  </a:moveTo>
                  <a:lnTo>
                    <a:pt x="0" y="0"/>
                  </a:lnTo>
                  <a:lnTo>
                    <a:pt x="203200" y="355245"/>
                  </a:lnTo>
                  <a:lnTo>
                    <a:pt x="1283814" y="355245"/>
                  </a:lnTo>
                  <a:lnTo>
                    <a:pt x="1080614" y="0"/>
                  </a:lnTo>
                  <a:close/>
                </a:path>
              </a:pathLst>
            </a:custGeom>
            <a:solidFill>
              <a:srgbClr val="FFFFFF"/>
            </a:solidFill>
          </p:spPr>
        </p:sp>
        <p:sp>
          <p:nvSpPr>
            <p:cNvPr name="TextBox 7" id="7"/>
            <p:cNvSpPr txBox="true"/>
            <p:nvPr/>
          </p:nvSpPr>
          <p:spPr>
            <a:xfrm>
              <a:off x="101600" y="-28575"/>
              <a:ext cx="1080614" cy="383820"/>
            </a:xfrm>
            <a:prstGeom prst="rect">
              <a:avLst/>
            </a:prstGeom>
          </p:spPr>
          <p:txBody>
            <a:bodyPr anchor="ctr" rtlCol="false" tIns="50800" lIns="50800" bIns="50800" rIns="50800"/>
            <a:lstStyle/>
            <a:p>
              <a:pPr algn="ctr">
                <a:lnSpc>
                  <a:spcPts val="2380"/>
                </a:lnSpc>
              </a:pPr>
            </a:p>
          </p:txBody>
        </p:sp>
      </p:grpSp>
      <p:grpSp>
        <p:nvGrpSpPr>
          <p:cNvPr name="Group 8" id="8"/>
          <p:cNvGrpSpPr/>
          <p:nvPr/>
        </p:nvGrpSpPr>
        <p:grpSpPr>
          <a:xfrm rot="0">
            <a:off x="14234705" y="593966"/>
            <a:ext cx="3506528" cy="564302"/>
            <a:chOff x="0" y="0"/>
            <a:chExt cx="4675371" cy="752402"/>
          </a:xfrm>
        </p:grpSpPr>
        <p:sp>
          <p:nvSpPr>
            <p:cNvPr name="TextBox 9" id="9"/>
            <p:cNvSpPr txBox="true"/>
            <p:nvPr/>
          </p:nvSpPr>
          <p:spPr>
            <a:xfrm rot="0">
              <a:off x="1711549" y="33860"/>
              <a:ext cx="2963821" cy="536171"/>
            </a:xfrm>
            <a:prstGeom prst="rect">
              <a:avLst/>
            </a:prstGeom>
          </p:spPr>
          <p:txBody>
            <a:bodyPr anchor="t" rtlCol="false" tIns="0" lIns="0" bIns="0" rIns="0">
              <a:spAutoFit/>
            </a:bodyPr>
            <a:lstStyle/>
            <a:p>
              <a:pPr algn="l">
                <a:lnSpc>
                  <a:spcPts val="3429"/>
                </a:lnSpc>
                <a:spcBef>
                  <a:spcPct val="0"/>
                </a:spcBef>
              </a:pPr>
              <a:r>
                <a:rPr lang="en-US" sz="2449" b="true">
                  <a:solidFill>
                    <a:srgbClr val="000000"/>
                  </a:solidFill>
                  <a:latin typeface="Cabin Bold"/>
                  <a:ea typeface="Cabin Bold"/>
                  <a:cs typeface="Cabin Bold"/>
                  <a:sym typeface="Cabin Bold"/>
                </a:rPr>
                <a:t>Công ty HRM</a:t>
              </a:r>
            </a:p>
          </p:txBody>
        </p:sp>
        <p:sp>
          <p:nvSpPr>
            <p:cNvPr name="Freeform 10" id="10"/>
            <p:cNvSpPr/>
            <p:nvPr/>
          </p:nvSpPr>
          <p:spPr>
            <a:xfrm flipH="false" flipV="false" rot="0">
              <a:off x="0" y="0"/>
              <a:ext cx="1317768" cy="752402"/>
            </a:xfrm>
            <a:custGeom>
              <a:avLst/>
              <a:gdLst/>
              <a:ahLst/>
              <a:cxnLst/>
              <a:rect r="r" b="b" t="t" l="l"/>
              <a:pathLst>
                <a:path h="752402" w="1317768">
                  <a:moveTo>
                    <a:pt x="0" y="0"/>
                  </a:moveTo>
                  <a:lnTo>
                    <a:pt x="1317768" y="0"/>
                  </a:lnTo>
                  <a:lnTo>
                    <a:pt x="1317768" y="752402"/>
                  </a:lnTo>
                  <a:lnTo>
                    <a:pt x="0" y="752402"/>
                  </a:lnTo>
                  <a:lnTo>
                    <a:pt x="0" y="0"/>
                  </a:lnTo>
                  <a:close/>
                </a:path>
              </a:pathLst>
            </a:custGeom>
            <a:blipFill>
              <a:blip r:embed="rId3">
                <a:extLst>
                  <a:ext uri="{96DAC541-7B7A-43D3-8B79-37D633B846F1}">
                    <asvg:svgBlip xmlns:asvg="http://schemas.microsoft.com/office/drawing/2016/SVG/main" r:embed="rId4"/>
                  </a:ext>
                </a:extLst>
              </a:blip>
              <a:stretch>
                <a:fillRect l="0" t="-51576" r="0" b="0"/>
              </a:stretch>
            </a:blipFill>
          </p:spPr>
        </p:sp>
      </p:grpSp>
      <p:sp>
        <p:nvSpPr>
          <p:cNvPr name="TextBox 11" id="11"/>
          <p:cNvSpPr txBox="true"/>
          <p:nvPr/>
        </p:nvSpPr>
        <p:spPr>
          <a:xfrm rot="0">
            <a:off x="1028700" y="1989846"/>
            <a:ext cx="9329977" cy="6647209"/>
          </a:xfrm>
          <a:prstGeom prst="rect">
            <a:avLst/>
          </a:prstGeom>
        </p:spPr>
        <p:txBody>
          <a:bodyPr anchor="t" rtlCol="false" tIns="0" lIns="0" bIns="0" rIns="0">
            <a:spAutoFit/>
          </a:bodyPr>
          <a:lstStyle/>
          <a:p>
            <a:pPr algn="just" marL="820176" indent="-410088" lvl="1">
              <a:lnSpc>
                <a:spcPts val="5318"/>
              </a:lnSpc>
              <a:buFont typeface="Arial"/>
              <a:buChar char="•"/>
            </a:pPr>
            <a:r>
              <a:rPr lang="en-US" sz="3798" spc="113">
                <a:solidFill>
                  <a:srgbClr val="FFFFFF"/>
                </a:solidFill>
                <a:latin typeface="Cabin"/>
                <a:ea typeface="Cabin"/>
                <a:cs typeface="Cabin"/>
                <a:sym typeface="Cabin"/>
              </a:rPr>
              <a:t>Thực trạng:</a:t>
            </a:r>
          </a:p>
          <a:p>
            <a:pPr algn="just" marL="1640352" indent="-546784" lvl="2">
              <a:lnSpc>
                <a:spcPts val="5318"/>
              </a:lnSpc>
              <a:buFont typeface="Arial"/>
              <a:buChar char="⚬"/>
            </a:pPr>
            <a:r>
              <a:rPr lang="en-US" sz="3798" spc="113">
                <a:solidFill>
                  <a:srgbClr val="FFFFFF"/>
                </a:solidFill>
                <a:latin typeface="Cabin"/>
                <a:ea typeface="Cabin"/>
                <a:cs typeface="Cabin"/>
                <a:sym typeface="Cabin"/>
              </a:rPr>
              <a:t>Quản lý thủ công tốn thời gian, dễ sai sót.</a:t>
            </a:r>
          </a:p>
          <a:p>
            <a:pPr algn="just" marL="1640352" indent="-546784" lvl="2">
              <a:lnSpc>
                <a:spcPts val="5318"/>
              </a:lnSpc>
              <a:buFont typeface="Arial"/>
              <a:buChar char="⚬"/>
            </a:pPr>
            <a:r>
              <a:rPr lang="en-US" sz="3798" spc="113">
                <a:solidFill>
                  <a:srgbClr val="FFFFFF"/>
                </a:solidFill>
                <a:latin typeface="Cabin"/>
                <a:ea typeface="Cabin"/>
                <a:cs typeface="Cabin"/>
                <a:sym typeface="Cabin"/>
              </a:rPr>
              <a:t>Khó khăn trong tra cứu lịch sử lương và công.</a:t>
            </a:r>
          </a:p>
          <a:p>
            <a:pPr algn="just" marL="820176" indent="-410088" lvl="1">
              <a:lnSpc>
                <a:spcPts val="5318"/>
              </a:lnSpc>
              <a:buFont typeface="Arial"/>
              <a:buChar char="•"/>
            </a:pPr>
            <a:r>
              <a:rPr lang="en-US" sz="3798" spc="113">
                <a:solidFill>
                  <a:srgbClr val="FFFFFF"/>
                </a:solidFill>
                <a:latin typeface="Cabin"/>
                <a:ea typeface="Cabin"/>
                <a:cs typeface="Cabin"/>
                <a:sym typeface="Cabin"/>
              </a:rPr>
              <a:t>Giải pháp:</a:t>
            </a:r>
          </a:p>
          <a:p>
            <a:pPr algn="just" marL="1640352" indent="-546784" lvl="2">
              <a:lnSpc>
                <a:spcPts val="5318"/>
              </a:lnSpc>
              <a:buFont typeface="Arial"/>
              <a:buChar char="⚬"/>
            </a:pPr>
            <a:r>
              <a:rPr lang="en-US" sz="3798" spc="113">
                <a:solidFill>
                  <a:srgbClr val="FFFFFF"/>
                </a:solidFill>
                <a:latin typeface="Cabin"/>
                <a:ea typeface="Cabin"/>
                <a:cs typeface="Cabin"/>
                <a:sym typeface="Cabin"/>
              </a:rPr>
              <a:t>Xây dựng hệ thống quản lý tập trung.</a:t>
            </a:r>
          </a:p>
          <a:p>
            <a:pPr algn="just" marL="1640352" indent="-546784" lvl="2">
              <a:lnSpc>
                <a:spcPts val="5318"/>
              </a:lnSpc>
              <a:buFont typeface="Arial"/>
              <a:buChar char="⚬"/>
            </a:pPr>
            <a:r>
              <a:rPr lang="en-US" sz="3798" spc="113">
                <a:solidFill>
                  <a:srgbClr val="FFFFFF"/>
                </a:solidFill>
                <a:latin typeface="Cabin"/>
                <a:ea typeface="Cabin"/>
                <a:cs typeface="Cabin"/>
                <a:sym typeface="Cabin"/>
              </a:rPr>
              <a:t>Tự động hóa quy trình chấm công, tính lương.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836B2"/>
        </a:solidFill>
      </p:bgPr>
    </p:bg>
    <p:spTree>
      <p:nvGrpSpPr>
        <p:cNvPr id="1" name=""/>
        <p:cNvGrpSpPr/>
        <p:nvPr/>
      </p:nvGrpSpPr>
      <p:grpSpPr>
        <a:xfrm>
          <a:off x="0" y="0"/>
          <a:ext cx="0" cy="0"/>
          <a:chOff x="0" y="0"/>
          <a:chExt cx="0" cy="0"/>
        </a:xfrm>
      </p:grpSpPr>
      <p:grpSp>
        <p:nvGrpSpPr>
          <p:cNvPr name="Group 2" id="2"/>
          <p:cNvGrpSpPr/>
          <p:nvPr/>
        </p:nvGrpSpPr>
        <p:grpSpPr>
          <a:xfrm rot="0">
            <a:off x="-5403170" y="2027134"/>
            <a:ext cx="8700685" cy="8549139"/>
            <a:chOff x="0" y="0"/>
            <a:chExt cx="11600913" cy="11398852"/>
          </a:xfrm>
        </p:grpSpPr>
        <p:sp>
          <p:nvSpPr>
            <p:cNvPr name="Freeform 3" id="3"/>
            <p:cNvSpPr/>
            <p:nvPr/>
          </p:nvSpPr>
          <p:spPr>
            <a:xfrm flipH="true" flipV="false" rot="0">
              <a:off x="1607483" y="5692932"/>
              <a:ext cx="9993430" cy="5705921"/>
            </a:xfrm>
            <a:custGeom>
              <a:avLst/>
              <a:gdLst/>
              <a:ahLst/>
              <a:cxnLst/>
              <a:rect r="r" b="b" t="t" l="l"/>
              <a:pathLst>
                <a:path h="5705921" w="9993430">
                  <a:moveTo>
                    <a:pt x="9993430" y="0"/>
                  </a:moveTo>
                  <a:lnTo>
                    <a:pt x="0" y="0"/>
                  </a:lnTo>
                  <a:lnTo>
                    <a:pt x="0" y="5705920"/>
                  </a:lnTo>
                  <a:lnTo>
                    <a:pt x="9993430" y="5705920"/>
                  </a:lnTo>
                  <a:lnTo>
                    <a:pt x="9993430"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sp>
          <p:nvSpPr>
            <p:cNvPr name="Freeform 4" id="4"/>
            <p:cNvSpPr/>
            <p:nvPr/>
          </p:nvSpPr>
          <p:spPr>
            <a:xfrm flipH="true" flipV="false" rot="0">
              <a:off x="0" y="0"/>
              <a:ext cx="9993430" cy="5705921"/>
            </a:xfrm>
            <a:custGeom>
              <a:avLst/>
              <a:gdLst/>
              <a:ahLst/>
              <a:cxnLst/>
              <a:rect r="r" b="b" t="t" l="l"/>
              <a:pathLst>
                <a:path h="5705921" w="9993430">
                  <a:moveTo>
                    <a:pt x="9993430" y="0"/>
                  </a:moveTo>
                  <a:lnTo>
                    <a:pt x="0" y="0"/>
                  </a:lnTo>
                  <a:lnTo>
                    <a:pt x="0" y="5705921"/>
                  </a:lnTo>
                  <a:lnTo>
                    <a:pt x="9993430" y="5705921"/>
                  </a:lnTo>
                  <a:lnTo>
                    <a:pt x="9993430"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grpSp>
      <p:sp>
        <p:nvSpPr>
          <p:cNvPr name="TextBox 5" id="5"/>
          <p:cNvSpPr txBox="true"/>
          <p:nvPr/>
        </p:nvSpPr>
        <p:spPr>
          <a:xfrm rot="0">
            <a:off x="1028700" y="365125"/>
            <a:ext cx="13375469" cy="1193800"/>
          </a:xfrm>
          <a:prstGeom prst="rect">
            <a:avLst/>
          </a:prstGeom>
        </p:spPr>
        <p:txBody>
          <a:bodyPr anchor="t" rtlCol="false" tIns="0" lIns="0" bIns="0" rIns="0">
            <a:spAutoFit/>
          </a:bodyPr>
          <a:lstStyle/>
          <a:p>
            <a:pPr algn="l">
              <a:lnSpc>
                <a:spcPts val="9799"/>
              </a:lnSpc>
              <a:spcBef>
                <a:spcPct val="0"/>
              </a:spcBef>
            </a:pPr>
            <a:r>
              <a:rPr lang="en-US" b="true" sz="6999" spc="-139">
                <a:solidFill>
                  <a:srgbClr val="FFFFFF"/>
                </a:solidFill>
                <a:latin typeface="Cabin Medium"/>
                <a:ea typeface="Cabin Medium"/>
                <a:cs typeface="Cabin Medium"/>
                <a:sym typeface="Cabin Medium"/>
              </a:rPr>
              <a:t>2. Phân tích chức năng ( Nhân viên )</a:t>
            </a:r>
          </a:p>
        </p:txBody>
      </p:sp>
      <p:sp>
        <p:nvSpPr>
          <p:cNvPr name="TextBox 6" id="6"/>
          <p:cNvSpPr txBox="true"/>
          <p:nvPr/>
        </p:nvSpPr>
        <p:spPr>
          <a:xfrm rot="0">
            <a:off x="2886032" y="1629998"/>
            <a:ext cx="15109607" cy="8524875"/>
          </a:xfrm>
          <a:prstGeom prst="rect">
            <a:avLst/>
          </a:prstGeom>
        </p:spPr>
        <p:txBody>
          <a:bodyPr anchor="t" rtlCol="false" tIns="0" lIns="0" bIns="0" rIns="0">
            <a:spAutoFit/>
          </a:bodyPr>
          <a:lstStyle/>
          <a:p>
            <a:pPr algn="just">
              <a:lnSpc>
                <a:spcPts val="4200"/>
              </a:lnSpc>
            </a:pPr>
            <a:r>
              <a:rPr lang="en-US" b="true" sz="3000" spc="89">
                <a:solidFill>
                  <a:srgbClr val="FFFFFF"/>
                </a:solidFill>
                <a:latin typeface="Cabin Bold"/>
                <a:ea typeface="Cabin Bold"/>
                <a:cs typeface="Cabin Bold"/>
                <a:sym typeface="Cabin Bold"/>
              </a:rPr>
              <a:t>Quản lý thời gian &amp; công việc:</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Chấm công thông minh: Check-in/Check-out với thời gian thực đồng bộ từ Server</a:t>
            </a:r>
            <a:r>
              <a:rPr lang="en-US" b="true" sz="3000" spc="89">
                <a:solidFill>
                  <a:srgbClr val="FFFFFF"/>
                </a:solidFill>
                <a:latin typeface="Cabin Bold"/>
                <a:ea typeface="Cabin Bold"/>
                <a:cs typeface="Cabin Bold"/>
                <a:sym typeface="Cabin Bold"/>
              </a:rPr>
              <a:t> ngăn chặn chỉnh sửa giờ máy client. Hệ thống tự động đánh dấ</a:t>
            </a:r>
            <a:r>
              <a:rPr lang="en-US" b="true" sz="3000" spc="89">
                <a:solidFill>
                  <a:srgbClr val="FFFFFF"/>
                </a:solidFill>
                <a:latin typeface="Cabin Bold"/>
                <a:ea typeface="Cabin Bold"/>
                <a:cs typeface="Cabin Bold"/>
                <a:sym typeface="Cabin Bold"/>
              </a:rPr>
              <a:t>u trạng thái “Đi muộn” nếu quá giờ quy định. Yêu cầu nhân viên bật định vị vị trí, nếu cách quá xa vị trí công ty &gt; 200m sẽ ngăn không cho nhân viên chấm công</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Quản lý n</a:t>
            </a:r>
            <a:r>
              <a:rPr lang="en-US" b="true" sz="3000" spc="89">
                <a:solidFill>
                  <a:srgbClr val="FFFFFF"/>
                </a:solidFill>
                <a:latin typeface="Cabin Bold"/>
                <a:ea typeface="Cabin Bold"/>
                <a:cs typeface="Cabin Bold"/>
                <a:sym typeface="Cabin Bold"/>
              </a:rPr>
              <a:t>ghỉ phép: Tạo đơn xin nghỉ trực tuyến và nhận thông báo kết quả duyệt</a:t>
            </a:r>
          </a:p>
          <a:p>
            <a:pPr algn="just">
              <a:lnSpc>
                <a:spcPts val="4200"/>
              </a:lnSpc>
            </a:pPr>
            <a:r>
              <a:rPr lang="en-US" b="true" sz="3000" spc="89">
                <a:solidFill>
                  <a:srgbClr val="FFFFFF"/>
                </a:solidFill>
                <a:latin typeface="Cabin Bold"/>
                <a:ea typeface="Cabin Bold"/>
                <a:cs typeface="Cabin Bold"/>
                <a:sym typeface="Cabin Bold"/>
              </a:rPr>
              <a:t>Hồ sơ:</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Hồ sơ cá nhân: Xem và cập nhật thông t</a:t>
            </a:r>
            <a:r>
              <a:rPr lang="en-US" b="true" sz="3000" spc="89">
                <a:solidFill>
                  <a:srgbClr val="FFFFFF"/>
                </a:solidFill>
                <a:latin typeface="Cabin Bold"/>
                <a:ea typeface="Cabin Bold"/>
                <a:cs typeface="Cabin Bold"/>
                <a:sym typeface="Cabin Bold"/>
              </a:rPr>
              <a:t>in cá nhân, quản lý các tệp đính kèm quan trọng dưới dạng số hóa.</a:t>
            </a:r>
          </a:p>
          <a:p>
            <a:pPr algn="just">
              <a:lnSpc>
                <a:spcPts val="4200"/>
              </a:lnSpc>
            </a:pPr>
            <a:r>
              <a:rPr lang="en-US" b="true" sz="3000" spc="89">
                <a:solidFill>
                  <a:srgbClr val="FFFFFF"/>
                </a:solidFill>
                <a:latin typeface="Cabin Bold"/>
                <a:ea typeface="Cabin Bold"/>
                <a:cs typeface="Cabin Bold"/>
                <a:sym typeface="Cabin Bold"/>
              </a:rPr>
              <a:t>Tiện ích:</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Kho biểu mẫu cho phép nhân viên tải biểu mẫu tìm và tải các biểu mẫu cần thiết</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Xem nội quy công ty và nhận thông báo nếu đơn xin phép được đồng ý/ Từ chối hay tiền lương được gửi về thông qua tính năng chuông thông báo</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Hệ thống kênh chat cho phép nhân viên gửi tin nhắn trong kênh chat tổng, kênh chat phòng ban và nhắn tin riêng cho người khác, hay tham gia phòng họp trực tuyến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836B2"/>
        </a:solidFill>
      </p:bgPr>
    </p:bg>
    <p:spTree>
      <p:nvGrpSpPr>
        <p:cNvPr id="1" name=""/>
        <p:cNvGrpSpPr/>
        <p:nvPr/>
      </p:nvGrpSpPr>
      <p:grpSpPr>
        <a:xfrm>
          <a:off x="0" y="0"/>
          <a:ext cx="0" cy="0"/>
          <a:chOff x="0" y="0"/>
          <a:chExt cx="0" cy="0"/>
        </a:xfrm>
      </p:grpSpPr>
      <p:grpSp>
        <p:nvGrpSpPr>
          <p:cNvPr name="Group 2" id="2"/>
          <p:cNvGrpSpPr/>
          <p:nvPr/>
        </p:nvGrpSpPr>
        <p:grpSpPr>
          <a:xfrm rot="0">
            <a:off x="-3583980" y="1028700"/>
            <a:ext cx="9716818" cy="9547574"/>
            <a:chOff x="0" y="0"/>
            <a:chExt cx="12955757" cy="12730098"/>
          </a:xfrm>
        </p:grpSpPr>
        <p:sp>
          <p:nvSpPr>
            <p:cNvPr name="Freeform 3" id="3"/>
            <p:cNvSpPr/>
            <p:nvPr/>
          </p:nvSpPr>
          <p:spPr>
            <a:xfrm flipH="true" flipV="false" rot="0">
              <a:off x="1795218" y="6357796"/>
              <a:ext cx="11160540" cy="6372302"/>
            </a:xfrm>
            <a:custGeom>
              <a:avLst/>
              <a:gdLst/>
              <a:ahLst/>
              <a:cxnLst/>
              <a:rect r="r" b="b" t="t" l="l"/>
              <a:pathLst>
                <a:path h="6372302" w="11160540">
                  <a:moveTo>
                    <a:pt x="11160539" y="0"/>
                  </a:moveTo>
                  <a:lnTo>
                    <a:pt x="0" y="0"/>
                  </a:lnTo>
                  <a:lnTo>
                    <a:pt x="0" y="6372302"/>
                  </a:lnTo>
                  <a:lnTo>
                    <a:pt x="11160539" y="6372302"/>
                  </a:lnTo>
                  <a:lnTo>
                    <a:pt x="11160539"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sp>
          <p:nvSpPr>
            <p:cNvPr name="Freeform 4" id="4"/>
            <p:cNvSpPr/>
            <p:nvPr/>
          </p:nvSpPr>
          <p:spPr>
            <a:xfrm flipH="true" flipV="false" rot="0">
              <a:off x="0" y="0"/>
              <a:ext cx="11160540" cy="6372302"/>
            </a:xfrm>
            <a:custGeom>
              <a:avLst/>
              <a:gdLst/>
              <a:ahLst/>
              <a:cxnLst/>
              <a:rect r="r" b="b" t="t" l="l"/>
              <a:pathLst>
                <a:path h="6372302" w="11160540">
                  <a:moveTo>
                    <a:pt x="11160540" y="0"/>
                  </a:moveTo>
                  <a:lnTo>
                    <a:pt x="0" y="0"/>
                  </a:lnTo>
                  <a:lnTo>
                    <a:pt x="0" y="6372302"/>
                  </a:lnTo>
                  <a:lnTo>
                    <a:pt x="11160540" y="6372302"/>
                  </a:lnTo>
                  <a:lnTo>
                    <a:pt x="11160540"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grpSp>
      <p:sp>
        <p:nvSpPr>
          <p:cNvPr name="TextBox 5" id="5"/>
          <p:cNvSpPr txBox="true"/>
          <p:nvPr/>
        </p:nvSpPr>
        <p:spPr>
          <a:xfrm rot="0">
            <a:off x="4784619" y="365125"/>
            <a:ext cx="11627777" cy="1193800"/>
          </a:xfrm>
          <a:prstGeom prst="rect">
            <a:avLst/>
          </a:prstGeom>
        </p:spPr>
        <p:txBody>
          <a:bodyPr anchor="t" rtlCol="false" tIns="0" lIns="0" bIns="0" rIns="0">
            <a:spAutoFit/>
          </a:bodyPr>
          <a:lstStyle/>
          <a:p>
            <a:pPr algn="l">
              <a:lnSpc>
                <a:spcPts val="9799"/>
              </a:lnSpc>
              <a:spcBef>
                <a:spcPct val="0"/>
              </a:spcBef>
            </a:pPr>
            <a:r>
              <a:rPr lang="en-US" b="true" sz="6999" spc="-139">
                <a:solidFill>
                  <a:srgbClr val="FFFFFF"/>
                </a:solidFill>
                <a:latin typeface="Cabin Medium"/>
                <a:ea typeface="Cabin Medium"/>
                <a:cs typeface="Cabin Medium"/>
                <a:sym typeface="Cabin Medium"/>
              </a:rPr>
              <a:t>2. Phân tích chức năng ( Admin)</a:t>
            </a:r>
          </a:p>
        </p:txBody>
      </p:sp>
      <p:sp>
        <p:nvSpPr>
          <p:cNvPr name="TextBox 6" id="6"/>
          <p:cNvSpPr txBox="true"/>
          <p:nvPr/>
        </p:nvSpPr>
        <p:spPr>
          <a:xfrm rot="0">
            <a:off x="6132838" y="1800225"/>
            <a:ext cx="11126462" cy="7458075"/>
          </a:xfrm>
          <a:prstGeom prst="rect">
            <a:avLst/>
          </a:prstGeom>
        </p:spPr>
        <p:txBody>
          <a:bodyPr anchor="t" rtlCol="false" tIns="0" lIns="0" bIns="0" rIns="0">
            <a:spAutoFit/>
          </a:bodyPr>
          <a:lstStyle/>
          <a:p>
            <a:pPr algn="l">
              <a:lnSpc>
                <a:spcPts val="4200"/>
              </a:lnSpc>
            </a:pPr>
            <a:r>
              <a:rPr lang="en-US" sz="3000" spc="89" b="true">
                <a:solidFill>
                  <a:srgbClr val="FFFFFF"/>
                </a:solidFill>
                <a:latin typeface="Cabin Bold"/>
                <a:ea typeface="Cabin Bold"/>
                <a:cs typeface="Cabin Bold"/>
                <a:sym typeface="Cabin Bold"/>
              </a:rPr>
              <a:t>Dashboard &amp; Báo cáo:</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Tổng quan hệ thống qua biểu đồ trực quan về cơ cấu nhân sự, biến động lương.</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Theo dõi các chỉ số KPI quan trọng: Tổng nhân viên, quỹ lương tháng, đơn chờ duyệt.</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Giám sát tình hình chấm công vắng/đủ/muộn theo thời gian thực.</a:t>
            </a:r>
          </a:p>
          <a:p>
            <a:pPr algn="l">
              <a:lnSpc>
                <a:spcPts val="4200"/>
              </a:lnSpc>
            </a:pPr>
            <a:r>
              <a:rPr lang="en-US" sz="3000" spc="89" b="true">
                <a:solidFill>
                  <a:srgbClr val="FFFFFF"/>
                </a:solidFill>
                <a:latin typeface="Cabin Bold"/>
                <a:ea typeface="Cabin Bold"/>
                <a:cs typeface="Cabin Bold"/>
                <a:sym typeface="Cabin Bold"/>
              </a:rPr>
              <a:t>Quản trị Tài khoản &amp; Bảo mật:</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Quản lý tài khoản: Tạo mới, cập nhật và khóa tài khoản vi phạm, </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Phân quyền chi tiết: Cấp quyền truy cập vào từng module cụ thể</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Nhật ký hoạt động: Truy vết lịch sử đăng nhập và các thao tác quan trọng trên hệ thống để đảm bảo an ninh.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836B2"/>
        </a:solidFill>
      </p:bgPr>
    </p:bg>
    <p:spTree>
      <p:nvGrpSpPr>
        <p:cNvPr id="1" name=""/>
        <p:cNvGrpSpPr/>
        <p:nvPr/>
      </p:nvGrpSpPr>
      <p:grpSpPr>
        <a:xfrm>
          <a:off x="0" y="0"/>
          <a:ext cx="0" cy="0"/>
          <a:chOff x="0" y="0"/>
          <a:chExt cx="0" cy="0"/>
        </a:xfrm>
      </p:grpSpPr>
      <p:grpSp>
        <p:nvGrpSpPr>
          <p:cNvPr name="Group 2" id="2"/>
          <p:cNvGrpSpPr/>
          <p:nvPr/>
        </p:nvGrpSpPr>
        <p:grpSpPr>
          <a:xfrm rot="0">
            <a:off x="-5424827" y="1028700"/>
            <a:ext cx="9716818" cy="9547574"/>
            <a:chOff x="0" y="0"/>
            <a:chExt cx="12955757" cy="12730098"/>
          </a:xfrm>
        </p:grpSpPr>
        <p:sp>
          <p:nvSpPr>
            <p:cNvPr name="Freeform 3" id="3"/>
            <p:cNvSpPr/>
            <p:nvPr/>
          </p:nvSpPr>
          <p:spPr>
            <a:xfrm flipH="true" flipV="false" rot="0">
              <a:off x="1795218" y="6357796"/>
              <a:ext cx="11160540" cy="6372302"/>
            </a:xfrm>
            <a:custGeom>
              <a:avLst/>
              <a:gdLst/>
              <a:ahLst/>
              <a:cxnLst/>
              <a:rect r="r" b="b" t="t" l="l"/>
              <a:pathLst>
                <a:path h="6372302" w="11160540">
                  <a:moveTo>
                    <a:pt x="11160539" y="0"/>
                  </a:moveTo>
                  <a:lnTo>
                    <a:pt x="0" y="0"/>
                  </a:lnTo>
                  <a:lnTo>
                    <a:pt x="0" y="6372302"/>
                  </a:lnTo>
                  <a:lnTo>
                    <a:pt x="11160539" y="6372302"/>
                  </a:lnTo>
                  <a:lnTo>
                    <a:pt x="11160539"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sp>
          <p:nvSpPr>
            <p:cNvPr name="Freeform 4" id="4"/>
            <p:cNvSpPr/>
            <p:nvPr/>
          </p:nvSpPr>
          <p:spPr>
            <a:xfrm flipH="true" flipV="false" rot="0">
              <a:off x="0" y="0"/>
              <a:ext cx="11160540" cy="6372302"/>
            </a:xfrm>
            <a:custGeom>
              <a:avLst/>
              <a:gdLst/>
              <a:ahLst/>
              <a:cxnLst/>
              <a:rect r="r" b="b" t="t" l="l"/>
              <a:pathLst>
                <a:path h="6372302" w="11160540">
                  <a:moveTo>
                    <a:pt x="11160540" y="0"/>
                  </a:moveTo>
                  <a:lnTo>
                    <a:pt x="0" y="0"/>
                  </a:lnTo>
                  <a:lnTo>
                    <a:pt x="0" y="6372302"/>
                  </a:lnTo>
                  <a:lnTo>
                    <a:pt x="11160540" y="6372302"/>
                  </a:lnTo>
                  <a:lnTo>
                    <a:pt x="11160540"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grpSp>
      <p:sp>
        <p:nvSpPr>
          <p:cNvPr name="TextBox 5" id="5"/>
          <p:cNvSpPr txBox="true"/>
          <p:nvPr/>
        </p:nvSpPr>
        <p:spPr>
          <a:xfrm rot="0">
            <a:off x="4291991" y="314325"/>
            <a:ext cx="13586393" cy="9591675"/>
          </a:xfrm>
          <a:prstGeom prst="rect">
            <a:avLst/>
          </a:prstGeom>
        </p:spPr>
        <p:txBody>
          <a:bodyPr anchor="t" rtlCol="false" tIns="0" lIns="0" bIns="0" rIns="0">
            <a:spAutoFit/>
          </a:bodyPr>
          <a:lstStyle/>
          <a:p>
            <a:pPr algn="just">
              <a:lnSpc>
                <a:spcPts val="4200"/>
              </a:lnSpc>
            </a:pPr>
            <a:r>
              <a:rPr lang="en-US" b="true" sz="3000" spc="89">
                <a:solidFill>
                  <a:srgbClr val="FFFFFF"/>
                </a:solidFill>
                <a:latin typeface="Cabin Bold"/>
                <a:ea typeface="Cabin Bold"/>
                <a:cs typeface="Cabin Bold"/>
                <a:sym typeface="Cabin Bold"/>
              </a:rPr>
              <a:t>Quản trị Tổ chức &amp; Nhân sự</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Thiết lập cơ cấu phòng ban và chức vụ.</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Trưởng phòng ban quản lý nhân viên trong phòng ban của mình bao gồm việc xem/chỉnh sửa hồ sơ và quản lý nghỉ phép của các nhân viên cùng phòng ban</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Quản lý toàn diện hồ sơ nhân viên và lưu trữ hợp đồng số hóa.</a:t>
            </a:r>
          </a:p>
          <a:p>
            <a:pPr algn="just">
              <a:lnSpc>
                <a:spcPts val="4200"/>
              </a:lnSpc>
            </a:pPr>
            <a:r>
              <a:rPr lang="en-US" b="true" sz="3000" spc="89">
                <a:solidFill>
                  <a:srgbClr val="FFFFFF"/>
                </a:solidFill>
                <a:latin typeface="Cabin Bold"/>
                <a:ea typeface="Cabin Bold"/>
                <a:cs typeface="Cabin Bold"/>
                <a:sym typeface="Cabin Bold"/>
              </a:rPr>
              <a:t>Quản lý Lương &amp; Thưởng</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Hỗ trợ tính lương tự động hàng tháng và khấu trừ thuế/bảo hiểm.</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X</a:t>
            </a:r>
            <a:r>
              <a:rPr lang="en-US" b="true" sz="3000" spc="89">
                <a:solidFill>
                  <a:srgbClr val="FFFFFF"/>
                </a:solidFill>
                <a:latin typeface="Cabin Bold"/>
                <a:ea typeface="Cabin Bold"/>
                <a:cs typeface="Cabin Bold"/>
                <a:sym typeface="Cabin Bold"/>
              </a:rPr>
              <a:t>ác nhận thanh toán và xuất báo cáo lương chi tiết ra file Excel.</a:t>
            </a:r>
          </a:p>
          <a:p>
            <a:pPr algn="just">
              <a:lnSpc>
                <a:spcPts val="4200"/>
              </a:lnSpc>
            </a:pPr>
            <a:r>
              <a:rPr lang="en-US" b="true" sz="3000" spc="89">
                <a:solidFill>
                  <a:srgbClr val="FFFFFF"/>
                </a:solidFill>
                <a:latin typeface="Cabin Bold"/>
                <a:ea typeface="Cabin Bold"/>
                <a:cs typeface="Cabin Bold"/>
                <a:sym typeface="Cabin Bold"/>
              </a:rPr>
              <a:t>Vậ</a:t>
            </a:r>
            <a:r>
              <a:rPr lang="en-US" b="true" sz="3000" spc="89">
                <a:solidFill>
                  <a:srgbClr val="FFFFFF"/>
                </a:solidFill>
                <a:latin typeface="Cabin Bold"/>
                <a:ea typeface="Cabin Bold"/>
                <a:cs typeface="Cabin Bold"/>
                <a:sym typeface="Cabin Bold"/>
              </a:rPr>
              <a:t>n hành &amp; Tương tác</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Quy trình duyệt: Phê duyệt/Từ chối đơn xin nghỉ phép nhanh chóng.</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K</a:t>
            </a:r>
            <a:r>
              <a:rPr lang="en-US" b="true" sz="3000" spc="89">
                <a:solidFill>
                  <a:srgbClr val="FFFFFF"/>
                </a:solidFill>
                <a:latin typeface="Cabin Bold"/>
                <a:ea typeface="Cabin Bold"/>
                <a:cs typeface="Cabin Bold"/>
                <a:sym typeface="Cabin Bold"/>
              </a:rPr>
              <a:t>ho biểu mẫu: Quản lý và tải lên các mẫu văn bản hành chính cho nhân viên tải về.</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Truyền thông: Soạn thảo và gửi thông báo quan trọng đến toàn thể công ty.</a:t>
            </a:r>
          </a:p>
          <a:p>
            <a:pPr algn="just"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Hệ thống kênh chat cho phép admin gửi tin nhắn trong kênh chat tổng, chọn lựa kênh chat phòng ban muốn xem và nhắn tin riêng cho người khác, hay tham gia phòng họp trực tuyến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836B2"/>
        </a:solidFill>
      </p:bgPr>
    </p:bg>
    <p:spTree>
      <p:nvGrpSpPr>
        <p:cNvPr id="1" name=""/>
        <p:cNvGrpSpPr/>
        <p:nvPr/>
      </p:nvGrpSpPr>
      <p:grpSpPr>
        <a:xfrm>
          <a:off x="0" y="0"/>
          <a:ext cx="0" cy="0"/>
          <a:chOff x="0" y="0"/>
          <a:chExt cx="0" cy="0"/>
        </a:xfrm>
      </p:grpSpPr>
      <p:grpSp>
        <p:nvGrpSpPr>
          <p:cNvPr name="Group 2" id="2"/>
          <p:cNvGrpSpPr/>
          <p:nvPr/>
        </p:nvGrpSpPr>
        <p:grpSpPr>
          <a:xfrm rot="0">
            <a:off x="-3583980" y="1028700"/>
            <a:ext cx="9716818" cy="9547574"/>
            <a:chOff x="0" y="0"/>
            <a:chExt cx="12955757" cy="12730098"/>
          </a:xfrm>
        </p:grpSpPr>
        <p:sp>
          <p:nvSpPr>
            <p:cNvPr name="Freeform 3" id="3"/>
            <p:cNvSpPr/>
            <p:nvPr/>
          </p:nvSpPr>
          <p:spPr>
            <a:xfrm flipH="true" flipV="false" rot="0">
              <a:off x="1795218" y="6357796"/>
              <a:ext cx="11160540" cy="6372302"/>
            </a:xfrm>
            <a:custGeom>
              <a:avLst/>
              <a:gdLst/>
              <a:ahLst/>
              <a:cxnLst/>
              <a:rect r="r" b="b" t="t" l="l"/>
              <a:pathLst>
                <a:path h="6372302" w="11160540">
                  <a:moveTo>
                    <a:pt x="11160539" y="0"/>
                  </a:moveTo>
                  <a:lnTo>
                    <a:pt x="0" y="0"/>
                  </a:lnTo>
                  <a:lnTo>
                    <a:pt x="0" y="6372302"/>
                  </a:lnTo>
                  <a:lnTo>
                    <a:pt x="11160539" y="6372302"/>
                  </a:lnTo>
                  <a:lnTo>
                    <a:pt x="11160539"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sp>
          <p:nvSpPr>
            <p:cNvPr name="Freeform 4" id="4"/>
            <p:cNvSpPr/>
            <p:nvPr/>
          </p:nvSpPr>
          <p:spPr>
            <a:xfrm flipH="true" flipV="false" rot="0">
              <a:off x="0" y="0"/>
              <a:ext cx="11160540" cy="6372302"/>
            </a:xfrm>
            <a:custGeom>
              <a:avLst/>
              <a:gdLst/>
              <a:ahLst/>
              <a:cxnLst/>
              <a:rect r="r" b="b" t="t" l="l"/>
              <a:pathLst>
                <a:path h="6372302" w="11160540">
                  <a:moveTo>
                    <a:pt x="11160540" y="0"/>
                  </a:moveTo>
                  <a:lnTo>
                    <a:pt x="0" y="0"/>
                  </a:lnTo>
                  <a:lnTo>
                    <a:pt x="0" y="6372302"/>
                  </a:lnTo>
                  <a:lnTo>
                    <a:pt x="11160540" y="6372302"/>
                  </a:lnTo>
                  <a:lnTo>
                    <a:pt x="11160540"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grpSp>
      <p:sp>
        <p:nvSpPr>
          <p:cNvPr name="TextBox 5" id="5"/>
          <p:cNvSpPr txBox="true"/>
          <p:nvPr/>
        </p:nvSpPr>
        <p:spPr>
          <a:xfrm rot="0">
            <a:off x="5631523" y="365125"/>
            <a:ext cx="8950931" cy="1193800"/>
          </a:xfrm>
          <a:prstGeom prst="rect">
            <a:avLst/>
          </a:prstGeom>
        </p:spPr>
        <p:txBody>
          <a:bodyPr anchor="t" rtlCol="false" tIns="0" lIns="0" bIns="0" rIns="0">
            <a:spAutoFit/>
          </a:bodyPr>
          <a:lstStyle/>
          <a:p>
            <a:pPr algn="l">
              <a:lnSpc>
                <a:spcPts val="9799"/>
              </a:lnSpc>
              <a:spcBef>
                <a:spcPct val="0"/>
              </a:spcBef>
            </a:pPr>
            <a:r>
              <a:rPr lang="en-US" b="true" sz="6999" spc="-139">
                <a:solidFill>
                  <a:srgbClr val="FFFFFF"/>
                </a:solidFill>
                <a:latin typeface="Cabin Medium"/>
                <a:ea typeface="Cabin Medium"/>
                <a:cs typeface="Cabin Medium"/>
                <a:sym typeface="Cabin Medium"/>
              </a:rPr>
              <a:t>3. Tổng quan công nghệ</a:t>
            </a:r>
          </a:p>
        </p:txBody>
      </p:sp>
      <p:sp>
        <p:nvSpPr>
          <p:cNvPr name="TextBox 6" id="6"/>
          <p:cNvSpPr txBox="true"/>
          <p:nvPr/>
        </p:nvSpPr>
        <p:spPr>
          <a:xfrm rot="0">
            <a:off x="6641125" y="1800225"/>
            <a:ext cx="9744947" cy="7458075"/>
          </a:xfrm>
          <a:prstGeom prst="rect">
            <a:avLst/>
          </a:prstGeom>
        </p:spPr>
        <p:txBody>
          <a:bodyPr anchor="t" rtlCol="false" tIns="0" lIns="0" bIns="0" rIns="0">
            <a:spAutoFit/>
          </a:bodyPr>
          <a:lstStyle/>
          <a:p>
            <a:pPr algn="l">
              <a:lnSpc>
                <a:spcPts val="4200"/>
              </a:lnSpc>
            </a:pPr>
            <a:r>
              <a:rPr lang="en-US" sz="3000" spc="89" b="true">
                <a:solidFill>
                  <a:srgbClr val="FFFFFF"/>
                </a:solidFill>
                <a:latin typeface="Cabin Bold"/>
                <a:ea typeface="Cabin Bold"/>
                <a:cs typeface="Cabin Bold"/>
                <a:sym typeface="Cabin Bold"/>
              </a:rPr>
              <a:t>Front-end:</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Nền tảng chính: A</a:t>
            </a:r>
            <a:r>
              <a:rPr lang="en-US" b="true" sz="3000" spc="89">
                <a:solidFill>
                  <a:srgbClr val="FFFFFF"/>
                </a:solidFill>
                <a:latin typeface="Cabin Bold"/>
                <a:ea typeface="Cabin Bold"/>
                <a:cs typeface="Cabin Bold"/>
                <a:sym typeface="Cabin Bold"/>
              </a:rPr>
              <a:t>ngular 16+</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Giao diện</a:t>
            </a:r>
            <a:r>
              <a:rPr lang="en-US" b="true" sz="3000" spc="89">
                <a:solidFill>
                  <a:srgbClr val="FFFFFF"/>
                </a:solidFill>
                <a:latin typeface="Cabin Bold"/>
                <a:ea typeface="Cabin Bold"/>
                <a:cs typeface="Cabin Bold"/>
                <a:sym typeface="Cabin Bold"/>
              </a:rPr>
              <a:t>: Angular Materia</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Trực quan hóa: Thư viện ng2-charts</a:t>
            </a:r>
          </a:p>
          <a:p>
            <a:pPr algn="l">
              <a:lnSpc>
                <a:spcPts val="4200"/>
              </a:lnSpc>
            </a:pPr>
            <a:r>
              <a:rPr lang="en-US" sz="3000" spc="89" b="true">
                <a:solidFill>
                  <a:srgbClr val="FFFFFF"/>
                </a:solidFill>
                <a:latin typeface="Cabin Bold"/>
                <a:ea typeface="Cabin Bold"/>
                <a:cs typeface="Cabin Bold"/>
                <a:sym typeface="Cabin Bold"/>
              </a:rPr>
              <a:t>Back-</a:t>
            </a:r>
            <a:r>
              <a:rPr lang="en-US" sz="3000" spc="89" b="true">
                <a:solidFill>
                  <a:srgbClr val="FFFFFF"/>
                </a:solidFill>
                <a:latin typeface="Cabin Bold"/>
                <a:ea typeface="Cabin Bold"/>
                <a:cs typeface="Cabin Bold"/>
                <a:sym typeface="Cabin Bold"/>
              </a:rPr>
              <a:t>end:</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Nền tảng cốt lõi </a:t>
            </a:r>
            <a:r>
              <a:rPr lang="en-US" b="true" sz="3000" spc="89">
                <a:solidFill>
                  <a:srgbClr val="FFFFFF"/>
                </a:solidFill>
                <a:latin typeface="Cabin Bold"/>
                <a:ea typeface="Cabin Bold"/>
                <a:cs typeface="Cabin Bold"/>
                <a:sym typeface="Cabin Bold"/>
              </a:rPr>
              <a:t>: ASP.NET Core Web API</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Cơ sở dữ liệu </a:t>
            </a:r>
            <a:r>
              <a:rPr lang="en-US" b="true" sz="3000" spc="89">
                <a:solidFill>
                  <a:srgbClr val="FFFFFF"/>
                </a:solidFill>
                <a:latin typeface="Cabin Bold"/>
                <a:ea typeface="Cabin Bold"/>
                <a:cs typeface="Cabin Bold"/>
                <a:sym typeface="Cabin Bold"/>
              </a:rPr>
              <a:t>: SQL Server &amp; Entity Framework Core</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Real-time: Công nghệ SignalR</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Xử lý báo cáo</a:t>
            </a:r>
            <a:r>
              <a:rPr lang="en-US" b="true" sz="3000" spc="89">
                <a:solidFill>
                  <a:srgbClr val="FFFFFF"/>
                </a:solidFill>
                <a:latin typeface="Cabin Bold"/>
                <a:ea typeface="Cabin Bold"/>
                <a:cs typeface="Cabin Bold"/>
                <a:sym typeface="Cabin Bold"/>
              </a:rPr>
              <a:t>: Thư viện ClosedXML</a:t>
            </a:r>
          </a:p>
          <a:p>
            <a:pPr algn="l">
              <a:lnSpc>
                <a:spcPts val="4200"/>
              </a:lnSpc>
            </a:pPr>
            <a:r>
              <a:rPr lang="en-US" sz="3000" spc="89" b="true">
                <a:solidFill>
                  <a:srgbClr val="FFFFFF"/>
                </a:solidFill>
                <a:latin typeface="Cabin Bold"/>
                <a:ea typeface="Cabin Bold"/>
                <a:cs typeface="Cabin Bold"/>
                <a:sym typeface="Cabin Bold"/>
              </a:rPr>
              <a:t>Bảo mật:</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Xác thực</a:t>
            </a:r>
            <a:r>
              <a:rPr lang="en-US" b="true" sz="3000" spc="89">
                <a:solidFill>
                  <a:srgbClr val="FFFFFF"/>
                </a:solidFill>
                <a:latin typeface="Cabin Bold"/>
                <a:ea typeface="Cabin Bold"/>
                <a:cs typeface="Cabin Bold"/>
                <a:sym typeface="Cabin Bold"/>
              </a:rPr>
              <a:t>: Sử dụng JWT</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Phân quyền:</a:t>
            </a:r>
            <a:r>
              <a:rPr lang="en-US" b="true" sz="3000" spc="89">
                <a:solidFill>
                  <a:srgbClr val="FFFFFF"/>
                </a:solidFill>
                <a:latin typeface="Cabin Bold"/>
                <a:ea typeface="Cabin Bold"/>
                <a:cs typeface="Cabin Bold"/>
                <a:sym typeface="Cabin Bold"/>
              </a:rPr>
              <a:t> Cơ chế Policy-based</a:t>
            </a:r>
          </a:p>
          <a:p>
            <a:pPr algn="l" marL="647700" indent="-323850" lvl="1">
              <a:lnSpc>
                <a:spcPts val="4200"/>
              </a:lnSpc>
              <a:buFont typeface="Arial"/>
              <a:buChar char="•"/>
            </a:pPr>
            <a:r>
              <a:rPr lang="en-US" b="true" sz="3000" spc="89">
                <a:solidFill>
                  <a:srgbClr val="FFFFFF"/>
                </a:solidFill>
                <a:latin typeface="Cabin Bold"/>
                <a:ea typeface="Cabin Bold"/>
                <a:cs typeface="Cabin Bold"/>
                <a:sym typeface="Cabin Bold"/>
              </a:rPr>
              <a:t>Mã hóa: Mật khẩu được mã hóa an toàn trước khi lưu trữ.</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03123" y="1907036"/>
            <a:ext cx="10703564" cy="8228365"/>
          </a:xfrm>
          <a:custGeom>
            <a:avLst/>
            <a:gdLst/>
            <a:ahLst/>
            <a:cxnLst/>
            <a:rect r="r" b="b" t="t" l="l"/>
            <a:pathLst>
              <a:path h="8228365" w="10703564">
                <a:moveTo>
                  <a:pt x="0" y="0"/>
                </a:moveTo>
                <a:lnTo>
                  <a:pt x="10703563" y="0"/>
                </a:lnTo>
                <a:lnTo>
                  <a:pt x="10703563" y="8228365"/>
                </a:lnTo>
                <a:lnTo>
                  <a:pt x="0" y="8228365"/>
                </a:lnTo>
                <a:lnTo>
                  <a:pt x="0" y="0"/>
                </a:lnTo>
                <a:close/>
              </a:path>
            </a:pathLst>
          </a:custGeom>
          <a:blipFill>
            <a:blip r:embed="rId2"/>
            <a:stretch>
              <a:fillRect l="0" t="0" r="0" b="0"/>
            </a:stretch>
          </a:blipFill>
        </p:spPr>
      </p:sp>
      <p:sp>
        <p:nvSpPr>
          <p:cNvPr name="TextBox 3" id="3"/>
          <p:cNvSpPr txBox="true"/>
          <p:nvPr/>
        </p:nvSpPr>
        <p:spPr>
          <a:xfrm rot="0">
            <a:off x="1028700" y="365125"/>
            <a:ext cx="6710473" cy="1193800"/>
          </a:xfrm>
          <a:prstGeom prst="rect">
            <a:avLst/>
          </a:prstGeom>
        </p:spPr>
        <p:txBody>
          <a:bodyPr anchor="t" rtlCol="false" tIns="0" lIns="0" bIns="0" rIns="0">
            <a:spAutoFit/>
          </a:bodyPr>
          <a:lstStyle/>
          <a:p>
            <a:pPr algn="l">
              <a:lnSpc>
                <a:spcPts val="9799"/>
              </a:lnSpc>
              <a:spcBef>
                <a:spcPct val="0"/>
              </a:spcBef>
            </a:pPr>
            <a:r>
              <a:rPr lang="en-US" b="true" sz="6999" spc="-139">
                <a:solidFill>
                  <a:srgbClr val="1836B2"/>
                </a:solidFill>
                <a:latin typeface="Cabin Medium"/>
                <a:ea typeface="Cabin Medium"/>
                <a:cs typeface="Cabin Medium"/>
                <a:sym typeface="Cabin Medium"/>
              </a:rPr>
              <a:t>4</a:t>
            </a:r>
            <a:r>
              <a:rPr lang="en-US" b="true" sz="6999" spc="-139">
                <a:solidFill>
                  <a:srgbClr val="1836B2"/>
                </a:solidFill>
                <a:latin typeface="Cabin Medium"/>
                <a:ea typeface="Cabin Medium"/>
                <a:cs typeface="Cabin Medium"/>
                <a:sym typeface="Cabin Medium"/>
              </a:rPr>
              <a:t>. Sơ đồ Database</a:t>
            </a:r>
          </a:p>
        </p:txBody>
      </p:sp>
      <p:grpSp>
        <p:nvGrpSpPr>
          <p:cNvPr name="Group 4" id="4"/>
          <p:cNvGrpSpPr/>
          <p:nvPr/>
        </p:nvGrpSpPr>
        <p:grpSpPr>
          <a:xfrm rot="0">
            <a:off x="-3704718" y="2855020"/>
            <a:ext cx="7409436" cy="7280381"/>
            <a:chOff x="0" y="0"/>
            <a:chExt cx="9879249" cy="9707175"/>
          </a:xfrm>
        </p:grpSpPr>
        <p:sp>
          <p:nvSpPr>
            <p:cNvPr name="Freeform 5" id="5"/>
            <p:cNvSpPr/>
            <p:nvPr/>
          </p:nvSpPr>
          <p:spPr>
            <a:xfrm flipH="true" flipV="false" rot="0">
              <a:off x="1368920" y="4848057"/>
              <a:ext cx="8510328" cy="4859118"/>
            </a:xfrm>
            <a:custGeom>
              <a:avLst/>
              <a:gdLst/>
              <a:ahLst/>
              <a:cxnLst/>
              <a:rect r="r" b="b" t="t" l="l"/>
              <a:pathLst>
                <a:path h="4859118" w="8510328">
                  <a:moveTo>
                    <a:pt x="8510329" y="0"/>
                  </a:moveTo>
                  <a:lnTo>
                    <a:pt x="0" y="0"/>
                  </a:lnTo>
                  <a:lnTo>
                    <a:pt x="0" y="4859118"/>
                  </a:lnTo>
                  <a:lnTo>
                    <a:pt x="8510329" y="4859118"/>
                  </a:lnTo>
                  <a:lnTo>
                    <a:pt x="8510329" y="0"/>
                  </a:lnTo>
                  <a:close/>
                </a:path>
              </a:pathLst>
            </a:custGeom>
            <a:blipFill>
              <a:blip r:embed="rId3">
                <a:extLst>
                  <a:ext uri="{96DAC541-7B7A-43D3-8B79-37D633B846F1}">
                    <asvg:svgBlip xmlns:asvg="http://schemas.microsoft.com/office/drawing/2016/SVG/main" r:embed="rId4"/>
                  </a:ext>
                </a:extLst>
              </a:blip>
              <a:stretch>
                <a:fillRect l="0" t="-51576" r="0" b="0"/>
              </a:stretch>
            </a:blipFill>
          </p:spPr>
        </p:sp>
        <p:sp>
          <p:nvSpPr>
            <p:cNvPr name="Freeform 6" id="6"/>
            <p:cNvSpPr/>
            <p:nvPr/>
          </p:nvSpPr>
          <p:spPr>
            <a:xfrm flipH="true" flipV="false" rot="0">
              <a:off x="0" y="0"/>
              <a:ext cx="8510328" cy="4859118"/>
            </a:xfrm>
            <a:custGeom>
              <a:avLst/>
              <a:gdLst/>
              <a:ahLst/>
              <a:cxnLst/>
              <a:rect r="r" b="b" t="t" l="l"/>
              <a:pathLst>
                <a:path h="4859118" w="8510328">
                  <a:moveTo>
                    <a:pt x="8510328" y="0"/>
                  </a:moveTo>
                  <a:lnTo>
                    <a:pt x="0" y="0"/>
                  </a:lnTo>
                  <a:lnTo>
                    <a:pt x="0" y="4859118"/>
                  </a:lnTo>
                  <a:lnTo>
                    <a:pt x="8510328" y="4859118"/>
                  </a:lnTo>
                  <a:lnTo>
                    <a:pt x="8510328" y="0"/>
                  </a:lnTo>
                  <a:close/>
                </a:path>
              </a:pathLst>
            </a:custGeom>
            <a:blipFill>
              <a:blip r:embed="rId3">
                <a:extLst>
                  <a:ext uri="{96DAC541-7B7A-43D3-8B79-37D633B846F1}">
                    <asvg:svgBlip xmlns:asvg="http://schemas.microsoft.com/office/drawing/2016/SVG/main" r:embed="rId4"/>
                  </a:ext>
                </a:extLst>
              </a:blip>
              <a:stretch>
                <a:fillRect l="0" t="-51576"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704718" y="3006619"/>
            <a:ext cx="7409436" cy="7280381"/>
            <a:chOff x="0" y="0"/>
            <a:chExt cx="9879249" cy="9707175"/>
          </a:xfrm>
        </p:grpSpPr>
        <p:sp>
          <p:nvSpPr>
            <p:cNvPr name="Freeform 3" id="3"/>
            <p:cNvSpPr/>
            <p:nvPr/>
          </p:nvSpPr>
          <p:spPr>
            <a:xfrm flipH="true" flipV="false" rot="0">
              <a:off x="1368920" y="4848057"/>
              <a:ext cx="8510328" cy="4859118"/>
            </a:xfrm>
            <a:custGeom>
              <a:avLst/>
              <a:gdLst/>
              <a:ahLst/>
              <a:cxnLst/>
              <a:rect r="r" b="b" t="t" l="l"/>
              <a:pathLst>
                <a:path h="4859118" w="8510328">
                  <a:moveTo>
                    <a:pt x="8510329" y="0"/>
                  </a:moveTo>
                  <a:lnTo>
                    <a:pt x="0" y="0"/>
                  </a:lnTo>
                  <a:lnTo>
                    <a:pt x="0" y="4859118"/>
                  </a:lnTo>
                  <a:lnTo>
                    <a:pt x="8510329" y="4859118"/>
                  </a:lnTo>
                  <a:lnTo>
                    <a:pt x="8510329"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sp>
          <p:nvSpPr>
            <p:cNvPr name="Freeform 4" id="4"/>
            <p:cNvSpPr/>
            <p:nvPr/>
          </p:nvSpPr>
          <p:spPr>
            <a:xfrm flipH="true" flipV="false" rot="0">
              <a:off x="0" y="0"/>
              <a:ext cx="8510328" cy="4859118"/>
            </a:xfrm>
            <a:custGeom>
              <a:avLst/>
              <a:gdLst/>
              <a:ahLst/>
              <a:cxnLst/>
              <a:rect r="r" b="b" t="t" l="l"/>
              <a:pathLst>
                <a:path h="4859118" w="8510328">
                  <a:moveTo>
                    <a:pt x="8510328" y="0"/>
                  </a:moveTo>
                  <a:lnTo>
                    <a:pt x="0" y="0"/>
                  </a:lnTo>
                  <a:lnTo>
                    <a:pt x="0" y="4859118"/>
                  </a:lnTo>
                  <a:lnTo>
                    <a:pt x="8510328" y="4859118"/>
                  </a:lnTo>
                  <a:lnTo>
                    <a:pt x="8510328"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grpSp>
      <p:sp>
        <p:nvSpPr>
          <p:cNvPr name="Freeform 5" id="5"/>
          <p:cNvSpPr/>
          <p:nvPr/>
        </p:nvSpPr>
        <p:spPr>
          <a:xfrm flipH="false" flipV="false" rot="0">
            <a:off x="4562639" y="1028700"/>
            <a:ext cx="13112195" cy="9014634"/>
          </a:xfrm>
          <a:custGeom>
            <a:avLst/>
            <a:gdLst/>
            <a:ahLst/>
            <a:cxnLst/>
            <a:rect r="r" b="b" t="t" l="l"/>
            <a:pathLst>
              <a:path h="9014634" w="13112195">
                <a:moveTo>
                  <a:pt x="0" y="0"/>
                </a:moveTo>
                <a:lnTo>
                  <a:pt x="13112195" y="0"/>
                </a:lnTo>
                <a:lnTo>
                  <a:pt x="13112195" y="9014634"/>
                </a:lnTo>
                <a:lnTo>
                  <a:pt x="0" y="9014634"/>
                </a:lnTo>
                <a:lnTo>
                  <a:pt x="0" y="0"/>
                </a:lnTo>
                <a:close/>
              </a:path>
            </a:pathLst>
          </a:custGeom>
          <a:blipFill>
            <a:blip r:embed="rId4"/>
            <a:stretch>
              <a:fillRect l="0" t="0" r="0" b="0"/>
            </a:stretch>
          </a:blipFill>
        </p:spPr>
      </p:sp>
      <p:sp>
        <p:nvSpPr>
          <p:cNvPr name="TextBox 6" id="6"/>
          <p:cNvSpPr txBox="true"/>
          <p:nvPr/>
        </p:nvSpPr>
        <p:spPr>
          <a:xfrm rot="0">
            <a:off x="1028700" y="365125"/>
            <a:ext cx="5027748" cy="1193800"/>
          </a:xfrm>
          <a:prstGeom prst="rect">
            <a:avLst/>
          </a:prstGeom>
        </p:spPr>
        <p:txBody>
          <a:bodyPr anchor="t" rtlCol="false" tIns="0" lIns="0" bIns="0" rIns="0">
            <a:spAutoFit/>
          </a:bodyPr>
          <a:lstStyle/>
          <a:p>
            <a:pPr algn="l">
              <a:lnSpc>
                <a:spcPts val="9799"/>
              </a:lnSpc>
              <a:spcBef>
                <a:spcPct val="0"/>
              </a:spcBef>
            </a:pPr>
            <a:r>
              <a:rPr lang="en-US" b="true" sz="6999" spc="-139">
                <a:solidFill>
                  <a:srgbClr val="1836B2"/>
                </a:solidFill>
                <a:latin typeface="Cabin Medium"/>
                <a:ea typeface="Cabin Medium"/>
                <a:cs typeface="Cabin Medium"/>
                <a:sym typeface="Cabin Medium"/>
              </a:rPr>
              <a:t>4</a:t>
            </a:r>
            <a:r>
              <a:rPr lang="en-US" b="true" sz="6999" spc="-139">
                <a:solidFill>
                  <a:srgbClr val="1836B2"/>
                </a:solidFill>
                <a:latin typeface="Cabin Medium"/>
                <a:ea typeface="Cabin Medium"/>
                <a:cs typeface="Cabin Medium"/>
                <a:sym typeface="Cabin Medium"/>
              </a:rPr>
              <a:t>. Sơ đồ ERD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1451638" cy="828838"/>
          </a:xfrm>
          <a:custGeom>
            <a:avLst/>
            <a:gdLst/>
            <a:ahLst/>
            <a:cxnLst/>
            <a:rect r="r" b="b" t="t" l="l"/>
            <a:pathLst>
              <a:path h="828838" w="1451638">
                <a:moveTo>
                  <a:pt x="0" y="0"/>
                </a:moveTo>
                <a:lnTo>
                  <a:pt x="1451638" y="0"/>
                </a:lnTo>
                <a:lnTo>
                  <a:pt x="1451638" y="828838"/>
                </a:lnTo>
                <a:lnTo>
                  <a:pt x="0" y="828838"/>
                </a:lnTo>
                <a:lnTo>
                  <a:pt x="0" y="0"/>
                </a:lnTo>
                <a:close/>
              </a:path>
            </a:pathLst>
          </a:custGeom>
          <a:blipFill>
            <a:blip r:embed="rId2">
              <a:extLst>
                <a:ext uri="{96DAC541-7B7A-43D3-8B79-37D633B846F1}">
                  <asvg:svgBlip xmlns:asvg="http://schemas.microsoft.com/office/drawing/2016/SVG/main" r:embed="rId3"/>
                </a:ext>
              </a:extLst>
            </a:blip>
            <a:stretch>
              <a:fillRect l="0" t="-51576" r="0" b="0"/>
            </a:stretch>
          </a:blipFill>
        </p:spPr>
      </p:sp>
      <p:grpSp>
        <p:nvGrpSpPr>
          <p:cNvPr name="Group 3" id="3"/>
          <p:cNvGrpSpPr>
            <a:grpSpLocks noChangeAspect="true"/>
          </p:cNvGrpSpPr>
          <p:nvPr/>
        </p:nvGrpSpPr>
        <p:grpSpPr>
          <a:xfrm rot="0">
            <a:off x="9324975" y="-680491"/>
            <a:ext cx="11774707" cy="10196366"/>
            <a:chOff x="0" y="0"/>
            <a:chExt cx="4282440" cy="3708400"/>
          </a:xfrm>
        </p:grpSpPr>
        <p:sp>
          <p:nvSpPr>
            <p:cNvPr name="Freeform 4" id="4"/>
            <p:cNvSpPr/>
            <p:nvPr/>
          </p:nvSpPr>
          <p:spPr>
            <a:xfrm flipH="false" flipV="false" rot="0">
              <a:off x="0" y="0"/>
              <a:ext cx="4282440" cy="3708400"/>
            </a:xfrm>
            <a:custGeom>
              <a:avLst/>
              <a:gdLst/>
              <a:ahLst/>
              <a:cxnLst/>
              <a:rect r="r" b="b" t="t" l="l"/>
              <a:pathLst>
                <a:path h="3708400" w="4282440">
                  <a:moveTo>
                    <a:pt x="3211830" y="0"/>
                  </a:moveTo>
                  <a:lnTo>
                    <a:pt x="1070610" y="0"/>
                  </a:lnTo>
                  <a:lnTo>
                    <a:pt x="0" y="1854200"/>
                  </a:lnTo>
                  <a:lnTo>
                    <a:pt x="1070610" y="3708400"/>
                  </a:lnTo>
                  <a:lnTo>
                    <a:pt x="3211830" y="3708400"/>
                  </a:lnTo>
                  <a:lnTo>
                    <a:pt x="4282440" y="1854200"/>
                  </a:lnTo>
                  <a:close/>
                </a:path>
              </a:pathLst>
            </a:custGeom>
            <a:blipFill>
              <a:blip r:embed="rId4"/>
              <a:stretch>
                <a:fillRect l="-14946" t="0" r="-14946" b="0"/>
              </a:stretch>
            </a:blipFill>
          </p:spPr>
        </p:sp>
      </p:grpSp>
      <p:sp>
        <p:nvSpPr>
          <p:cNvPr name="TextBox 5" id="5"/>
          <p:cNvSpPr txBox="true"/>
          <p:nvPr/>
        </p:nvSpPr>
        <p:spPr>
          <a:xfrm rot="0">
            <a:off x="1028700" y="3255641"/>
            <a:ext cx="7850768" cy="2324100"/>
          </a:xfrm>
          <a:prstGeom prst="rect">
            <a:avLst/>
          </a:prstGeom>
        </p:spPr>
        <p:txBody>
          <a:bodyPr anchor="t" rtlCol="false" tIns="0" lIns="0" bIns="0" rIns="0">
            <a:spAutoFit/>
          </a:bodyPr>
          <a:lstStyle/>
          <a:p>
            <a:pPr algn="l">
              <a:lnSpc>
                <a:spcPts val="9204"/>
              </a:lnSpc>
            </a:pPr>
            <a:r>
              <a:rPr lang="en-US" b="true" sz="7670" spc="230">
                <a:solidFill>
                  <a:srgbClr val="1836B2"/>
                </a:solidFill>
                <a:latin typeface="Cabin Bold"/>
                <a:ea typeface="Cabin Bold"/>
                <a:cs typeface="Cabin Bold"/>
                <a:sym typeface="Cabin Bold"/>
              </a:rPr>
              <a:t>5. MODULE CHƯƠNG TRÌNH</a:t>
            </a:r>
          </a:p>
        </p:txBody>
      </p:sp>
      <p:grpSp>
        <p:nvGrpSpPr>
          <p:cNvPr name="Group 6" id="6"/>
          <p:cNvGrpSpPr/>
          <p:nvPr/>
        </p:nvGrpSpPr>
        <p:grpSpPr>
          <a:xfrm rot="0">
            <a:off x="-1864644" y="9515756"/>
            <a:ext cx="15590632" cy="2536910"/>
            <a:chOff x="0" y="0"/>
            <a:chExt cx="2151604" cy="350109"/>
          </a:xfrm>
        </p:grpSpPr>
        <p:sp>
          <p:nvSpPr>
            <p:cNvPr name="Freeform 7" id="7"/>
            <p:cNvSpPr/>
            <p:nvPr/>
          </p:nvSpPr>
          <p:spPr>
            <a:xfrm flipH="false" flipV="false" rot="0">
              <a:off x="0" y="0"/>
              <a:ext cx="2151604" cy="350109"/>
            </a:xfrm>
            <a:custGeom>
              <a:avLst/>
              <a:gdLst/>
              <a:ahLst/>
              <a:cxnLst/>
              <a:rect r="r" b="b" t="t" l="l"/>
              <a:pathLst>
                <a:path h="350109" w="2151604">
                  <a:moveTo>
                    <a:pt x="1948404" y="0"/>
                  </a:moveTo>
                  <a:lnTo>
                    <a:pt x="0" y="0"/>
                  </a:lnTo>
                  <a:lnTo>
                    <a:pt x="203200" y="350109"/>
                  </a:lnTo>
                  <a:lnTo>
                    <a:pt x="2151604" y="350109"/>
                  </a:lnTo>
                  <a:lnTo>
                    <a:pt x="1948404" y="0"/>
                  </a:lnTo>
                  <a:close/>
                </a:path>
              </a:pathLst>
            </a:custGeom>
            <a:solidFill>
              <a:srgbClr val="A066CB"/>
            </a:solidFill>
          </p:spPr>
        </p:sp>
        <p:sp>
          <p:nvSpPr>
            <p:cNvPr name="TextBox 8" id="8"/>
            <p:cNvSpPr txBox="true"/>
            <p:nvPr/>
          </p:nvSpPr>
          <p:spPr>
            <a:xfrm>
              <a:off x="101600" y="-28575"/>
              <a:ext cx="1948404" cy="378684"/>
            </a:xfrm>
            <a:prstGeom prst="rect">
              <a:avLst/>
            </a:prstGeom>
          </p:spPr>
          <p:txBody>
            <a:bodyPr anchor="ctr" rtlCol="false" tIns="50800" lIns="50800" bIns="50800" rIns="50800"/>
            <a:lstStyle/>
            <a:p>
              <a:pPr algn="ctr">
                <a:lnSpc>
                  <a:spcPts val="2380"/>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427716"/>
            <a:ext cx="16242097" cy="7978930"/>
          </a:xfrm>
          <a:custGeom>
            <a:avLst/>
            <a:gdLst/>
            <a:ahLst/>
            <a:cxnLst/>
            <a:rect r="r" b="b" t="t" l="l"/>
            <a:pathLst>
              <a:path h="7978930" w="16242097">
                <a:moveTo>
                  <a:pt x="0" y="0"/>
                </a:moveTo>
                <a:lnTo>
                  <a:pt x="16242097" y="0"/>
                </a:lnTo>
                <a:lnTo>
                  <a:pt x="16242097" y="7978930"/>
                </a:lnTo>
                <a:lnTo>
                  <a:pt x="0" y="7978930"/>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Giới thiệu</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495635"/>
            <a:ext cx="16230600" cy="7952994"/>
          </a:xfrm>
          <a:custGeom>
            <a:avLst/>
            <a:gdLst/>
            <a:ahLst/>
            <a:cxnLst/>
            <a:rect r="r" b="b" t="t" l="l"/>
            <a:pathLst>
              <a:path h="7952994" w="16230600">
                <a:moveTo>
                  <a:pt x="0" y="0"/>
                </a:moveTo>
                <a:lnTo>
                  <a:pt x="16230600" y="0"/>
                </a:lnTo>
                <a:lnTo>
                  <a:pt x="16230600" y="7952994"/>
                </a:lnTo>
                <a:lnTo>
                  <a:pt x="0" y="7952994"/>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Đăng nhập</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57901" y="454797"/>
            <a:ext cx="16201399" cy="7898182"/>
          </a:xfrm>
          <a:custGeom>
            <a:avLst/>
            <a:gdLst/>
            <a:ahLst/>
            <a:cxnLst/>
            <a:rect r="r" b="b" t="t" l="l"/>
            <a:pathLst>
              <a:path h="7898182" w="16201399">
                <a:moveTo>
                  <a:pt x="0" y="0"/>
                </a:moveTo>
                <a:lnTo>
                  <a:pt x="16201399" y="0"/>
                </a:lnTo>
                <a:lnTo>
                  <a:pt x="16201399" y="7898182"/>
                </a:lnTo>
                <a:lnTo>
                  <a:pt x="0" y="7898182"/>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Đăng ký</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93671" y="522397"/>
            <a:ext cx="16100658" cy="7952994"/>
          </a:xfrm>
          <a:custGeom>
            <a:avLst/>
            <a:gdLst/>
            <a:ahLst/>
            <a:cxnLst/>
            <a:rect r="r" b="b" t="t" l="l"/>
            <a:pathLst>
              <a:path h="7952994" w="16100658">
                <a:moveTo>
                  <a:pt x="0" y="0"/>
                </a:moveTo>
                <a:lnTo>
                  <a:pt x="16100658" y="0"/>
                </a:lnTo>
                <a:lnTo>
                  <a:pt x="16100658" y="7952994"/>
                </a:lnTo>
                <a:lnTo>
                  <a:pt x="0" y="7952994"/>
                </a:lnTo>
                <a:lnTo>
                  <a:pt x="0" y="0"/>
                </a:lnTo>
                <a:close/>
              </a:path>
            </a:pathLst>
          </a:custGeom>
          <a:blipFill>
            <a:blip r:embed="rId2"/>
            <a:stretch>
              <a:fillRect l="0" t="0" r="-807" b="0"/>
            </a:stretch>
          </a:blipFill>
        </p:spPr>
      </p:sp>
      <p:sp>
        <p:nvSpPr>
          <p:cNvPr name="TextBox 6" id="6"/>
          <p:cNvSpPr txBox="true"/>
          <p:nvPr/>
        </p:nvSpPr>
        <p:spPr>
          <a:xfrm rot="0">
            <a:off x="1773000" y="9191625"/>
            <a:ext cx="14742000" cy="10572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Bảng tin bao gồm chức năng chấm công + Xem lịch sử chấm công + nhận thông báo từ công ty ( User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479083"/>
            <a:ext cx="16230600" cy="7952994"/>
          </a:xfrm>
          <a:custGeom>
            <a:avLst/>
            <a:gdLst/>
            <a:ahLst/>
            <a:cxnLst/>
            <a:rect r="r" b="b" t="t" l="l"/>
            <a:pathLst>
              <a:path h="7952994" w="16230600">
                <a:moveTo>
                  <a:pt x="0" y="0"/>
                </a:moveTo>
                <a:lnTo>
                  <a:pt x="16230600" y="0"/>
                </a:lnTo>
                <a:lnTo>
                  <a:pt x="16230600" y="7952994"/>
                </a:lnTo>
                <a:lnTo>
                  <a:pt x="0" y="7952994"/>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Nhân viên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486860"/>
            <a:ext cx="16148501" cy="7973323"/>
          </a:xfrm>
          <a:custGeom>
            <a:avLst/>
            <a:gdLst/>
            <a:ahLst/>
            <a:cxnLst/>
            <a:rect r="r" b="b" t="t" l="l"/>
            <a:pathLst>
              <a:path h="7973323" w="16148501">
                <a:moveTo>
                  <a:pt x="0" y="0"/>
                </a:moveTo>
                <a:lnTo>
                  <a:pt x="16148501" y="0"/>
                </a:lnTo>
                <a:lnTo>
                  <a:pt x="16148501" y="7973323"/>
                </a:lnTo>
                <a:lnTo>
                  <a:pt x="0" y="7973323"/>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Hồ sơ cá nhân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495635"/>
            <a:ext cx="16230600" cy="7952994"/>
          </a:xfrm>
          <a:custGeom>
            <a:avLst/>
            <a:gdLst/>
            <a:ahLst/>
            <a:cxnLst/>
            <a:rect r="r" b="b" t="t" l="l"/>
            <a:pathLst>
              <a:path h="7952994" w="16230600">
                <a:moveTo>
                  <a:pt x="0" y="0"/>
                </a:moveTo>
                <a:lnTo>
                  <a:pt x="16230600" y="0"/>
                </a:lnTo>
                <a:lnTo>
                  <a:pt x="16230600" y="7952994"/>
                </a:lnTo>
                <a:lnTo>
                  <a:pt x="0" y="7952994"/>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Tải biểu mẫu ( User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505779"/>
            <a:ext cx="16230600" cy="7932706"/>
          </a:xfrm>
          <a:custGeom>
            <a:avLst/>
            <a:gdLst/>
            <a:ahLst/>
            <a:cxnLst/>
            <a:rect r="r" b="b" t="t" l="l"/>
            <a:pathLst>
              <a:path h="7932706" w="16230600">
                <a:moveTo>
                  <a:pt x="0" y="0"/>
                </a:moveTo>
                <a:lnTo>
                  <a:pt x="16230600" y="0"/>
                </a:lnTo>
                <a:lnTo>
                  <a:pt x="16230600" y="7932706"/>
                </a:lnTo>
                <a:lnTo>
                  <a:pt x="0" y="7932706"/>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Tổng quan ( Admin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442177"/>
            <a:ext cx="16230600" cy="7973282"/>
          </a:xfrm>
          <a:custGeom>
            <a:avLst/>
            <a:gdLst/>
            <a:ahLst/>
            <a:cxnLst/>
            <a:rect r="r" b="b" t="t" l="l"/>
            <a:pathLst>
              <a:path h="7973282" w="16230600">
                <a:moveTo>
                  <a:pt x="0" y="0"/>
                </a:moveTo>
                <a:lnTo>
                  <a:pt x="16230600" y="0"/>
                </a:lnTo>
                <a:lnTo>
                  <a:pt x="16230600" y="7973282"/>
                </a:lnTo>
                <a:lnTo>
                  <a:pt x="0" y="7973282"/>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Đăng thông báo ( Admin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517292"/>
            <a:ext cx="16230600" cy="7952994"/>
          </a:xfrm>
          <a:custGeom>
            <a:avLst/>
            <a:gdLst/>
            <a:ahLst/>
            <a:cxnLst/>
            <a:rect r="r" b="b" t="t" l="l"/>
            <a:pathLst>
              <a:path h="7952994" w="16230600">
                <a:moveTo>
                  <a:pt x="0" y="0"/>
                </a:moveTo>
                <a:lnTo>
                  <a:pt x="16230600" y="0"/>
                </a:lnTo>
                <a:lnTo>
                  <a:pt x="16230600" y="7952994"/>
                </a:lnTo>
                <a:lnTo>
                  <a:pt x="0" y="7952994"/>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Thêm nhân viên ( Admin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589670"/>
            <a:ext cx="16230600" cy="7851553"/>
          </a:xfrm>
          <a:custGeom>
            <a:avLst/>
            <a:gdLst/>
            <a:ahLst/>
            <a:cxnLst/>
            <a:rect r="r" b="b" t="t" l="l"/>
            <a:pathLst>
              <a:path h="7851553" w="16230600">
                <a:moveTo>
                  <a:pt x="0" y="0"/>
                </a:moveTo>
                <a:lnTo>
                  <a:pt x="16230600" y="0"/>
                </a:lnTo>
                <a:lnTo>
                  <a:pt x="16230600" y="7851553"/>
                </a:lnTo>
                <a:lnTo>
                  <a:pt x="0" y="7851553"/>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Quản lý tài khoản ( Admin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508517"/>
            <a:ext cx="16230600" cy="8013859"/>
          </a:xfrm>
          <a:custGeom>
            <a:avLst/>
            <a:gdLst/>
            <a:ahLst/>
            <a:cxnLst/>
            <a:rect r="r" b="b" t="t" l="l"/>
            <a:pathLst>
              <a:path h="8013859" w="16230600">
                <a:moveTo>
                  <a:pt x="0" y="0"/>
                </a:moveTo>
                <a:lnTo>
                  <a:pt x="16230600" y="0"/>
                </a:lnTo>
                <a:lnTo>
                  <a:pt x="16230600" y="8013859"/>
                </a:lnTo>
                <a:lnTo>
                  <a:pt x="0" y="8013859"/>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Quản lý lịch sử  ( Admin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549094"/>
            <a:ext cx="16230682" cy="7932746"/>
          </a:xfrm>
          <a:custGeom>
            <a:avLst/>
            <a:gdLst/>
            <a:ahLst/>
            <a:cxnLst/>
            <a:rect r="r" b="b" t="t" l="l"/>
            <a:pathLst>
              <a:path h="7932746" w="16230682">
                <a:moveTo>
                  <a:pt x="0" y="0"/>
                </a:moveTo>
                <a:lnTo>
                  <a:pt x="16230682" y="0"/>
                </a:lnTo>
                <a:lnTo>
                  <a:pt x="16230682" y="7932746"/>
                </a:lnTo>
                <a:lnTo>
                  <a:pt x="0" y="7932746"/>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Quản lý phòng ban ( Admin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517292"/>
            <a:ext cx="16230600" cy="7952994"/>
          </a:xfrm>
          <a:custGeom>
            <a:avLst/>
            <a:gdLst/>
            <a:ahLst/>
            <a:cxnLst/>
            <a:rect r="r" b="b" t="t" l="l"/>
            <a:pathLst>
              <a:path h="7952994" w="16230600">
                <a:moveTo>
                  <a:pt x="0" y="0"/>
                </a:moveTo>
                <a:lnTo>
                  <a:pt x="16230600" y="0"/>
                </a:lnTo>
                <a:lnTo>
                  <a:pt x="16230600" y="7952994"/>
                </a:lnTo>
                <a:lnTo>
                  <a:pt x="0" y="7952994"/>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Quản lý lương và thưởng ( Admin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507148"/>
            <a:ext cx="16230600" cy="7973282"/>
          </a:xfrm>
          <a:custGeom>
            <a:avLst/>
            <a:gdLst/>
            <a:ahLst/>
            <a:cxnLst/>
            <a:rect r="r" b="b" t="t" l="l"/>
            <a:pathLst>
              <a:path h="7973282" w="16230600">
                <a:moveTo>
                  <a:pt x="0" y="0"/>
                </a:moveTo>
                <a:lnTo>
                  <a:pt x="16230600" y="0"/>
                </a:lnTo>
                <a:lnTo>
                  <a:pt x="16230600" y="7973283"/>
                </a:lnTo>
                <a:lnTo>
                  <a:pt x="0" y="7973283"/>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Quản lý nghỉ phép ( Admin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569382"/>
            <a:ext cx="16230600" cy="7892129"/>
          </a:xfrm>
          <a:custGeom>
            <a:avLst/>
            <a:gdLst/>
            <a:ahLst/>
            <a:cxnLst/>
            <a:rect r="r" b="b" t="t" l="l"/>
            <a:pathLst>
              <a:path h="7892129" w="16230600">
                <a:moveTo>
                  <a:pt x="0" y="0"/>
                </a:moveTo>
                <a:lnTo>
                  <a:pt x="16230600" y="0"/>
                </a:lnTo>
                <a:lnTo>
                  <a:pt x="16230600" y="7892129"/>
                </a:lnTo>
                <a:lnTo>
                  <a:pt x="0" y="7892129"/>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Quản lý biểu mẫu ( Admin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028700" y="518661"/>
            <a:ext cx="16230600" cy="7993570"/>
          </a:xfrm>
          <a:custGeom>
            <a:avLst/>
            <a:gdLst/>
            <a:ahLst/>
            <a:cxnLst/>
            <a:rect r="r" b="b" t="t" l="l"/>
            <a:pathLst>
              <a:path h="7993570" w="16230600">
                <a:moveTo>
                  <a:pt x="0" y="0"/>
                </a:moveTo>
                <a:lnTo>
                  <a:pt x="16230600" y="0"/>
                </a:lnTo>
                <a:lnTo>
                  <a:pt x="16230600" y="7993571"/>
                </a:lnTo>
                <a:lnTo>
                  <a:pt x="0" y="7993571"/>
                </a:lnTo>
                <a:lnTo>
                  <a:pt x="0" y="0"/>
                </a:lnTo>
                <a:close/>
              </a:path>
            </a:pathLst>
          </a:custGeom>
          <a:blipFill>
            <a:blip r:embed="rId2"/>
            <a:stretch>
              <a:fillRect l="0" t="0" r="0" b="0"/>
            </a:stretch>
          </a:blipFill>
        </p:spPr>
      </p:sp>
      <p:sp>
        <p:nvSpPr>
          <p:cNvPr name="TextBox 6" id="6"/>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Phòng họp</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67" y="9109893"/>
            <a:ext cx="17626066" cy="2658733"/>
            <a:chOff x="0" y="0"/>
            <a:chExt cx="4563075" cy="688299"/>
          </a:xfrm>
        </p:grpSpPr>
        <p:sp>
          <p:nvSpPr>
            <p:cNvPr name="Freeform 3" id="3"/>
            <p:cNvSpPr/>
            <p:nvPr/>
          </p:nvSpPr>
          <p:spPr>
            <a:xfrm flipH="false" flipV="false" rot="0">
              <a:off x="0" y="0"/>
              <a:ext cx="4563075" cy="688299"/>
            </a:xfrm>
            <a:custGeom>
              <a:avLst/>
              <a:gdLst/>
              <a:ahLst/>
              <a:cxnLst/>
              <a:rect r="r" b="b" t="t" l="l"/>
              <a:pathLst>
                <a:path h="688299" w="4563075">
                  <a:moveTo>
                    <a:pt x="4563075" y="344149"/>
                  </a:moveTo>
                  <a:lnTo>
                    <a:pt x="4359875" y="688299"/>
                  </a:lnTo>
                  <a:lnTo>
                    <a:pt x="203200" y="688299"/>
                  </a:lnTo>
                  <a:lnTo>
                    <a:pt x="0" y="344149"/>
                  </a:lnTo>
                  <a:lnTo>
                    <a:pt x="203200" y="0"/>
                  </a:lnTo>
                  <a:lnTo>
                    <a:pt x="4359875" y="0"/>
                  </a:lnTo>
                  <a:lnTo>
                    <a:pt x="4563075" y="344149"/>
                  </a:lnTo>
                  <a:close/>
                </a:path>
              </a:pathLst>
            </a:custGeom>
            <a:solidFill>
              <a:srgbClr val="A066CB"/>
            </a:solidFill>
          </p:spPr>
        </p:sp>
        <p:sp>
          <p:nvSpPr>
            <p:cNvPr name="TextBox 4" id="4"/>
            <p:cNvSpPr txBox="true"/>
            <p:nvPr/>
          </p:nvSpPr>
          <p:spPr>
            <a:xfrm>
              <a:off x="114300" y="-66675"/>
              <a:ext cx="4334475" cy="754974"/>
            </a:xfrm>
            <a:prstGeom prst="rect">
              <a:avLst/>
            </a:prstGeom>
          </p:spPr>
          <p:txBody>
            <a:bodyPr anchor="ctr" rtlCol="false" tIns="50800" lIns="50800" bIns="50800" rIns="50800"/>
            <a:lstStyle/>
            <a:p>
              <a:pPr algn="ctr">
                <a:lnSpc>
                  <a:spcPts val="4200"/>
                </a:lnSpc>
              </a:pPr>
            </a:p>
          </p:txBody>
        </p:sp>
      </p:grpSp>
      <p:sp>
        <p:nvSpPr>
          <p:cNvPr name="Freeform 5" id="5"/>
          <p:cNvSpPr/>
          <p:nvPr/>
        </p:nvSpPr>
        <p:spPr>
          <a:xfrm flipH="false" flipV="false" rot="0">
            <a:off x="1856423" y="1028700"/>
            <a:ext cx="4433686" cy="6924655"/>
          </a:xfrm>
          <a:custGeom>
            <a:avLst/>
            <a:gdLst/>
            <a:ahLst/>
            <a:cxnLst/>
            <a:rect r="r" b="b" t="t" l="l"/>
            <a:pathLst>
              <a:path h="6924655" w="4433686">
                <a:moveTo>
                  <a:pt x="0" y="0"/>
                </a:moveTo>
                <a:lnTo>
                  <a:pt x="4433686" y="0"/>
                </a:lnTo>
                <a:lnTo>
                  <a:pt x="4433686" y="6924655"/>
                </a:lnTo>
                <a:lnTo>
                  <a:pt x="0" y="6924655"/>
                </a:lnTo>
                <a:lnTo>
                  <a:pt x="0" y="0"/>
                </a:lnTo>
                <a:close/>
              </a:path>
            </a:pathLst>
          </a:custGeom>
          <a:blipFill>
            <a:blip r:embed="rId2"/>
            <a:stretch>
              <a:fillRect l="0" t="0" r="0" b="0"/>
            </a:stretch>
          </a:blipFill>
        </p:spPr>
      </p:sp>
      <p:sp>
        <p:nvSpPr>
          <p:cNvPr name="Freeform 6" id="6"/>
          <p:cNvSpPr/>
          <p:nvPr/>
        </p:nvSpPr>
        <p:spPr>
          <a:xfrm flipH="false" flipV="false" rot="0">
            <a:off x="6975909" y="1028700"/>
            <a:ext cx="4407693" cy="6924655"/>
          </a:xfrm>
          <a:custGeom>
            <a:avLst/>
            <a:gdLst/>
            <a:ahLst/>
            <a:cxnLst/>
            <a:rect r="r" b="b" t="t" l="l"/>
            <a:pathLst>
              <a:path h="6924655" w="4407693">
                <a:moveTo>
                  <a:pt x="0" y="0"/>
                </a:moveTo>
                <a:lnTo>
                  <a:pt x="4407693" y="0"/>
                </a:lnTo>
                <a:lnTo>
                  <a:pt x="4407693" y="6924655"/>
                </a:lnTo>
                <a:lnTo>
                  <a:pt x="0" y="6924655"/>
                </a:lnTo>
                <a:lnTo>
                  <a:pt x="0" y="0"/>
                </a:lnTo>
                <a:close/>
              </a:path>
            </a:pathLst>
          </a:custGeom>
          <a:blipFill>
            <a:blip r:embed="rId3"/>
            <a:stretch>
              <a:fillRect l="0" t="0" r="0" b="0"/>
            </a:stretch>
          </a:blipFill>
        </p:spPr>
      </p:sp>
      <p:sp>
        <p:nvSpPr>
          <p:cNvPr name="Freeform 7" id="7"/>
          <p:cNvSpPr/>
          <p:nvPr/>
        </p:nvSpPr>
        <p:spPr>
          <a:xfrm flipH="false" flipV="false" rot="0">
            <a:off x="12074158" y="1028700"/>
            <a:ext cx="4362175" cy="6924655"/>
          </a:xfrm>
          <a:custGeom>
            <a:avLst/>
            <a:gdLst/>
            <a:ahLst/>
            <a:cxnLst/>
            <a:rect r="r" b="b" t="t" l="l"/>
            <a:pathLst>
              <a:path h="6924655" w="4362175">
                <a:moveTo>
                  <a:pt x="0" y="0"/>
                </a:moveTo>
                <a:lnTo>
                  <a:pt x="4362175" y="0"/>
                </a:lnTo>
                <a:lnTo>
                  <a:pt x="4362175" y="6924655"/>
                </a:lnTo>
                <a:lnTo>
                  <a:pt x="0" y="6924655"/>
                </a:lnTo>
                <a:lnTo>
                  <a:pt x="0" y="0"/>
                </a:lnTo>
                <a:close/>
              </a:path>
            </a:pathLst>
          </a:custGeom>
          <a:blipFill>
            <a:blip r:embed="rId4"/>
            <a:stretch>
              <a:fillRect l="0" t="0" r="0" b="0"/>
            </a:stretch>
          </a:blipFill>
        </p:spPr>
      </p:sp>
      <p:sp>
        <p:nvSpPr>
          <p:cNvPr name="TextBox 8" id="8"/>
          <p:cNvSpPr txBox="true"/>
          <p:nvPr/>
        </p:nvSpPr>
        <p:spPr>
          <a:xfrm rot="0">
            <a:off x="2173239" y="9427622"/>
            <a:ext cx="13808786" cy="523875"/>
          </a:xfrm>
          <a:prstGeom prst="rect">
            <a:avLst/>
          </a:prstGeom>
        </p:spPr>
        <p:txBody>
          <a:bodyPr anchor="t" rtlCol="false" tIns="0" lIns="0" bIns="0" rIns="0">
            <a:spAutoFit/>
          </a:bodyPr>
          <a:lstStyle/>
          <a:p>
            <a:pPr algn="ctr">
              <a:lnSpc>
                <a:spcPts val="4200"/>
              </a:lnSpc>
              <a:spcBef>
                <a:spcPct val="0"/>
              </a:spcBef>
            </a:pPr>
            <a:r>
              <a:rPr lang="en-US" b="true" sz="3000">
                <a:solidFill>
                  <a:srgbClr val="000000"/>
                </a:solidFill>
                <a:latin typeface="Cabin Bold"/>
                <a:ea typeface="Cabin Bold"/>
                <a:cs typeface="Cabin Bold"/>
                <a:sym typeface="Cabin Bold"/>
              </a:rPr>
              <a:t>Trang Kênh chat nội bộ</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3107722" y="5362114"/>
            <a:ext cx="15512203" cy="6313618"/>
            <a:chOff x="0" y="0"/>
            <a:chExt cx="860199" cy="350109"/>
          </a:xfrm>
        </p:grpSpPr>
        <p:sp>
          <p:nvSpPr>
            <p:cNvPr name="Freeform 4" id="4"/>
            <p:cNvSpPr/>
            <p:nvPr/>
          </p:nvSpPr>
          <p:spPr>
            <a:xfrm flipH="false" flipV="false" rot="0">
              <a:off x="0" y="0"/>
              <a:ext cx="860199" cy="350109"/>
            </a:xfrm>
            <a:custGeom>
              <a:avLst/>
              <a:gdLst/>
              <a:ahLst/>
              <a:cxnLst/>
              <a:rect r="r" b="b" t="t" l="l"/>
              <a:pathLst>
                <a:path h="350109" w="860199">
                  <a:moveTo>
                    <a:pt x="656999" y="0"/>
                  </a:moveTo>
                  <a:lnTo>
                    <a:pt x="0" y="0"/>
                  </a:lnTo>
                  <a:lnTo>
                    <a:pt x="203200" y="350109"/>
                  </a:lnTo>
                  <a:lnTo>
                    <a:pt x="860199" y="350109"/>
                  </a:lnTo>
                  <a:lnTo>
                    <a:pt x="656999" y="0"/>
                  </a:lnTo>
                  <a:close/>
                </a:path>
              </a:pathLst>
            </a:custGeom>
            <a:solidFill>
              <a:srgbClr val="1836B2"/>
            </a:solidFill>
          </p:spPr>
        </p:sp>
        <p:sp>
          <p:nvSpPr>
            <p:cNvPr name="TextBox 5" id="5"/>
            <p:cNvSpPr txBox="true"/>
            <p:nvPr/>
          </p:nvSpPr>
          <p:spPr>
            <a:xfrm>
              <a:off x="101600" y="-28575"/>
              <a:ext cx="656999" cy="378684"/>
            </a:xfrm>
            <a:prstGeom prst="rect">
              <a:avLst/>
            </a:prstGeom>
          </p:spPr>
          <p:txBody>
            <a:bodyPr anchor="ctr" rtlCol="false" tIns="50800" lIns="50800" bIns="50800" rIns="50800"/>
            <a:lstStyle/>
            <a:p>
              <a:pPr algn="ctr">
                <a:lnSpc>
                  <a:spcPts val="2380"/>
                </a:lnSpc>
              </a:pPr>
            </a:p>
          </p:txBody>
        </p:sp>
      </p:grpSp>
      <p:grpSp>
        <p:nvGrpSpPr>
          <p:cNvPr name="Group 6" id="6"/>
          <p:cNvGrpSpPr/>
          <p:nvPr/>
        </p:nvGrpSpPr>
        <p:grpSpPr>
          <a:xfrm rot="0">
            <a:off x="1028700" y="6693478"/>
            <a:ext cx="7170447" cy="2564822"/>
            <a:chOff x="0" y="0"/>
            <a:chExt cx="9560596" cy="3419762"/>
          </a:xfrm>
        </p:grpSpPr>
        <p:sp>
          <p:nvSpPr>
            <p:cNvPr name="Freeform 7" id="7"/>
            <p:cNvSpPr/>
            <p:nvPr/>
          </p:nvSpPr>
          <p:spPr>
            <a:xfrm flipH="false" flipV="false" rot="0">
              <a:off x="0" y="0"/>
              <a:ext cx="1366974" cy="780497"/>
            </a:xfrm>
            <a:custGeom>
              <a:avLst/>
              <a:gdLst/>
              <a:ahLst/>
              <a:cxnLst/>
              <a:rect r="r" b="b" t="t" l="l"/>
              <a:pathLst>
                <a:path h="780497" w="1366974">
                  <a:moveTo>
                    <a:pt x="0" y="0"/>
                  </a:moveTo>
                  <a:lnTo>
                    <a:pt x="1366974" y="0"/>
                  </a:lnTo>
                  <a:lnTo>
                    <a:pt x="1366974" y="780497"/>
                  </a:lnTo>
                  <a:lnTo>
                    <a:pt x="0" y="780497"/>
                  </a:lnTo>
                  <a:lnTo>
                    <a:pt x="0" y="0"/>
                  </a:lnTo>
                  <a:close/>
                </a:path>
              </a:pathLst>
            </a:custGeom>
            <a:blipFill>
              <a:blip r:embed="rId3">
                <a:extLst>
                  <a:ext uri="{96DAC541-7B7A-43D3-8B79-37D633B846F1}">
                    <asvg:svgBlip xmlns:asvg="http://schemas.microsoft.com/office/drawing/2016/SVG/main" r:embed="rId4"/>
                  </a:ext>
                </a:extLst>
              </a:blip>
              <a:stretch>
                <a:fillRect l="0" t="-51576" r="0" b="0"/>
              </a:stretch>
            </a:blipFill>
          </p:spPr>
        </p:sp>
        <p:sp>
          <p:nvSpPr>
            <p:cNvPr name="TextBox 8" id="8"/>
            <p:cNvSpPr txBox="true"/>
            <p:nvPr/>
          </p:nvSpPr>
          <p:spPr>
            <a:xfrm rot="0">
              <a:off x="0" y="1491551"/>
              <a:ext cx="9560596" cy="1928211"/>
            </a:xfrm>
            <a:prstGeom prst="rect">
              <a:avLst/>
            </a:prstGeom>
          </p:spPr>
          <p:txBody>
            <a:bodyPr anchor="t" rtlCol="false" tIns="0" lIns="0" bIns="0" rIns="0">
              <a:spAutoFit/>
            </a:bodyPr>
            <a:lstStyle/>
            <a:p>
              <a:pPr algn="l">
                <a:lnSpc>
                  <a:spcPts val="10999"/>
                </a:lnSpc>
              </a:pPr>
              <a:r>
                <a:rPr lang="en-US" b="true" sz="9999">
                  <a:solidFill>
                    <a:srgbClr val="FFFFFF"/>
                  </a:solidFill>
                  <a:latin typeface="Cabin Semi-Bold"/>
                  <a:ea typeface="Cabin Semi-Bold"/>
                  <a:cs typeface="Cabin Semi-Bold"/>
                  <a:sym typeface="Cabin Semi-Bold"/>
                </a:rPr>
                <a:t>Xin cảm ơn!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DAG5rj13uH4</dc:identifier>
  <dcterms:modified xsi:type="dcterms:W3CDTF">2011-08-01T06:04:30Z</dcterms:modified>
  <cp:revision>1</cp:revision>
  <dc:title>Bài thuyết trình Phát triển hệ thống quản lý nhân viên công ty HRM</dc:title>
</cp:coreProperties>
</file>